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61" r:id="rId3"/>
    <p:sldId id="264" r:id="rId4"/>
    <p:sldId id="265" r:id="rId5"/>
    <p:sldId id="266" r:id="rId6"/>
    <p:sldId id="267" r:id="rId7"/>
    <p:sldId id="269" r:id="rId8"/>
    <p:sldId id="272" r:id="rId9"/>
    <p:sldId id="270" r:id="rId10"/>
    <p:sldId id="271" r:id="rId11"/>
    <p:sldId id="268" r:id="rId12"/>
    <p:sldId id="273" r:id="rId13"/>
    <p:sldId id="274" r:id="rId14"/>
    <p:sldId id="275" r:id="rId15"/>
    <p:sldId id="277" r:id="rId16"/>
    <p:sldId id="278" r:id="rId17"/>
    <p:sldId id="279" r:id="rId18"/>
    <p:sldId id="280" r:id="rId19"/>
    <p:sldId id="281" r:id="rId20"/>
    <p:sldId id="282" r:id="rId21"/>
    <p:sldId id="283" r:id="rId22"/>
    <p:sldId id="284" r:id="rId23"/>
    <p:sldId id="285" r:id="rId24"/>
    <p:sldId id="286" r:id="rId2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lvl1pPr>
    <a:lvl2pPr marL="0" marR="0" indent="4572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lvl2pPr>
    <a:lvl3pPr marL="0" marR="0" indent="9144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lvl3pPr>
    <a:lvl4pPr marL="0" marR="0" indent="13716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lvl4pPr>
    <a:lvl5pPr marL="0" marR="0" indent="18288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lvl5pPr>
    <a:lvl6pPr marL="0" marR="0" indent="22860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lvl6pPr>
    <a:lvl7pPr marL="0" marR="0" indent="27432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lvl7pPr>
    <a:lvl8pPr marL="0" marR="0" indent="32004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lvl8pPr>
    <a:lvl9pPr marL="0" marR="0" indent="36576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A9A9A9"/>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a:tcStyle>
        <a:tcBdr/>
        <a:fill>
          <a:solidFill>
            <a:srgbClr val="A9A9A9"/>
          </a:solidFill>
        </a:fill>
      </a:tcStyle>
    </a:band2H>
    <a:firstCol>
      <a:tcTxStyle b="on" i="off">
        <a:fontRef idx="minor">
          <a:srgbClr val="000000"/>
        </a:fontRef>
        <a:srgbClr val="000000"/>
      </a:tcTxStyle>
      <a:tcStyle>
        <a:tcBdr>
          <a:left>
            <a:ln w="12700" cap="flat">
              <a:solidFill>
                <a:srgbClr val="A9A9A9"/>
              </a:solidFill>
              <a:prstDash val="solid"/>
              <a:miter lim="400000"/>
            </a:ln>
          </a:left>
          <a:right>
            <a:ln w="254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
          <a:latin typeface="Graphik"/>
          <a:ea typeface="Graphik"/>
          <a:cs typeface="Graphik"/>
        </a:font>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00A1FF"/>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a:tcStyle>
        <a:tcBdr/>
        <a:fill>
          <a:solidFill>
            <a:srgbClr val="A9A9A9"/>
          </a:solidFill>
        </a:fill>
      </a:tcStyle>
    </a:band2H>
    <a:firstCol>
      <a:tcTxStyle b="off" i="off">
        <a:font>
          <a:latin typeface="Graphik Medium"/>
          <a:ea typeface="Graphik Medium"/>
          <a:cs typeface="Graphik Medium"/>
        </a:font>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13B100"/>
          </a:solidFill>
        </a:fill>
      </a:tcStyle>
    </a:firstCol>
    <a:lastRow>
      <a:tcTxStyle b="off" i="off">
        <a:font>
          <a:latin typeface="Graphik"/>
          <a:ea typeface="Graphik"/>
          <a:cs typeface="Graphik"/>
        </a:font>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Graphik Medium"/>
          <a:ea typeface="Graphik Medium"/>
          <a:cs typeface="Graphik Medium"/>
        </a:font>
        <a:srgbClr val="FFFFFF"/>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solidFill>
            <a:schemeClr val="accent3">
              <a:hueOff val="552055"/>
              <a:lumOff val="-12548"/>
            </a:schemeClr>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a:tcStyle>
        <a:tcBdr/>
        <a:fill>
          <a:solidFill>
            <a:srgbClr val="A9A9A9"/>
          </a:solidFill>
        </a:fill>
      </a:tcStyle>
    </a:band2H>
    <a:firstCol>
      <a:tcTxStyle b="off" i="off">
        <a:font>
          <a:latin typeface="Graphik Medium"/>
          <a:ea typeface="Graphik Medium"/>
          <a:cs typeface="Graphik Medium"/>
        </a:font>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000000"/>
        </a:fontRef>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Graphik Medium"/>
          <a:ea typeface="Graphik Medium"/>
          <a:cs typeface="Graphik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a:tcStyle>
        <a:tcBdr/>
        <a:fill>
          <a:solidFill>
            <a:srgbClr val="A9A9A9"/>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000000"/>
        </a:fontRef>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9A9A9"/>
              </a:solidFill>
              <a:prstDash val="solid"/>
              <a:miter lim="400000"/>
            </a:ln>
          </a:top>
          <a:bottom>
            <a:ln w="381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a:tcStyle>
        <a:tcBdr/>
        <a:fill>
          <a:solidFill>
            <a:srgbClr val="A9A9A9"/>
          </a:solidFill>
        </a:fill>
      </a:tcStyle>
    </a:band2H>
    <a:firstCol>
      <a:tcTxStyle b="on" i="off">
        <a:fontRef idx="minor">
          <a:srgbClr val="000000"/>
        </a:fontRef>
        <a:srgbClr val="000000"/>
      </a:tcTxStyle>
      <a:tcStyle>
        <a:tcBdr>
          <a:left>
            <a:ln w="12700" cap="flat">
              <a:solidFill>
                <a:srgbClr val="A9A9A9"/>
              </a:solidFill>
              <a:prstDash val="solid"/>
              <a:miter lim="400000"/>
            </a:ln>
          </a:left>
          <a:right>
            <a:ln w="381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n" i="off">
        <a:fontRef idx="minor">
          <a:srgbClr val="000000"/>
        </a:fontRef>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64646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55"/>
    <p:restoredTop sz="81066"/>
  </p:normalViewPr>
  <p:slideViewPr>
    <p:cSldViewPr snapToGrid="0">
      <p:cViewPr varScale="1">
        <p:scale>
          <a:sx n="30" d="100"/>
          <a:sy n="30" d="100"/>
        </p:scale>
        <p:origin x="296" y="504"/>
      </p:cViewPr>
      <p:guideLst/>
    </p:cSldViewPr>
  </p:slideViewPr>
  <p:notesTextViewPr>
    <p:cViewPr>
      <p:scale>
        <a:sx n="1" d="1"/>
        <a:sy n="1" d="1"/>
      </p:scale>
      <p:origin x="0" y="-684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it-IT" sz="2400" b="1" dirty="0"/>
              <a:t>Analogia:</a:t>
            </a:r>
            <a:r>
              <a:rPr lang="it-IT" sz="2400" dirty="0"/>
              <a:t> Internet è come il sistema stradale, il Web è come il traffico che vi circola.</a:t>
            </a:r>
          </a:p>
          <a:p>
            <a:endParaRPr lang="it-IT" dirty="0"/>
          </a:p>
          <a:p>
            <a:r>
              <a:rPr lang="it-IT" dirty="0"/>
              <a:t>Iniziamo con una distinzione fondamentale che spesso crea confusione: Internet e il World Wide Web non sono la stessa cosa, anche se nell'uso comune i termini vengono spesso utilizzati come sinonimi. Internet rappresenta l'infrastruttura fisica e logica che connette miliardi di dispositivi in tutto il mondo, una rete di reti che nacque negli anni '60 come progetto militare chiamato ARPANET e si è evoluta fino a diventare la spina dorsale digitale del nostro mondo moderno.</a:t>
            </a:r>
          </a:p>
          <a:p>
            <a:r>
              <a:rPr lang="it-IT" dirty="0"/>
              <a:t>Internet è governato da una suite di protocolli chiamata TCP/IP che definisce come i dati vengono trasmessi tra i dispositivi. Su questa infrastruttura girano molti servizi: l'email attraverso il protocollo SMTP, il trasferimento di file tramite FTP, l'accesso remoto sicuro con SSH, e naturalmente il World Wide Web attraverso HTTP e HTTPS.</a:t>
            </a:r>
          </a:p>
          <a:p>
            <a:r>
              <a:rPr lang="it-IT" dirty="0"/>
              <a:t>Il Web, inventato da Tim Berners-Lee nel 1989 al CERN, è quindi uno dei servizi che utilizza Internet come mezzo di trasporto. È un sistema di documenti ipertestuali interconnessi attraverso link, accessibili tramite browser web. Pensate a Internet come al sistema stradale di una nazione: le strade, i ponti, i semafori rappresentano l'infrastruttura. Il Web è come il traffico che circola su queste strade, uno dei tanti tipi di traffico possibili, insieme alle email, ai videogame online, e alle videochiamate.</a:t>
            </a:r>
          </a:p>
          <a:p>
            <a:endParaRPr lang="it-IT" dirty="0"/>
          </a:p>
        </p:txBody>
      </p:sp>
    </p:spTree>
    <p:extLst>
      <p:ext uri="{BB962C8B-B14F-4D97-AF65-F5344CB8AC3E}">
        <p14:creationId xmlns:p14="http://schemas.microsoft.com/office/powerpoint/2010/main" val="3088518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E6157-50FB-3302-7F94-A6C7C650F9B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0026583-C184-7030-0D3B-1C8B925C4884}"/>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22D967D6-58EE-F309-55D0-4CC4682940B2}"/>
              </a:ext>
            </a:extLst>
          </p:cNvPr>
          <p:cNvSpPr>
            <a:spLocks noGrp="1"/>
          </p:cNvSpPr>
          <p:nvPr>
            <p:ph type="body" idx="1"/>
          </p:nvPr>
        </p:nvSpPr>
        <p:spPr/>
        <p:txBody>
          <a:bodyPr/>
          <a:lstStyle/>
          <a:p>
            <a:r>
              <a:rPr lang="it-IT" dirty="0"/>
              <a:t>Il funzionamento del Web si basa su un'architettura fondamentale chiamata modello </a:t>
            </a:r>
            <a:r>
              <a:rPr lang="it-IT" dirty="0" err="1"/>
              <a:t>client-server</a:t>
            </a:r>
            <a:r>
              <a:rPr lang="it-IT" dirty="0"/>
              <a:t>, un paradigma che definisce come i dispositivi comunicano e si scambiano informazioni. In questo modello abbiamo due attori principali: il client, che rappresenta chi richiede un servizio, e il server, che fornisce tale servizio.</a:t>
            </a:r>
          </a:p>
          <a:p>
            <a:r>
              <a:rPr lang="it-IT" dirty="0"/>
              <a:t>Il client è tipicamente il vostro browser web, che sia Chrome, Firefox, Safari o Edge. Quando digitate un indirizzo web o cliccate su un link, il browser agisce come client, formulando una richiesta specifica e inviandola attraverso Internet. Il client ha sempre un ruolo attivo nell'iniziare la comunicazione e rimane in attesa di una risposta.</a:t>
            </a:r>
          </a:p>
          <a:p>
            <a:r>
              <a:rPr lang="it-IT" dirty="0"/>
              <a:t>Dall'altra parte abbiamo il server, un computer specializzato che rimane costantemente in ascolto di richieste provenienti dai client. I server web più comuni sono Apache, </a:t>
            </a:r>
            <a:r>
              <a:rPr lang="it-IT" dirty="0" err="1"/>
              <a:t>Nginx</a:t>
            </a:r>
            <a:r>
              <a:rPr lang="it-IT" dirty="0"/>
              <a:t>, Microsoft IIS, ognuno ottimizzato per gestire migliaia di richieste simultanee in modo efficiente. Il server elabora ogni richiesta ricevuta, accede ai dati necessari, li elabora secondo la logica dell'applicazione, e restituisce una risposta appropriata al client che aveva fatto la richiesta.</a:t>
            </a:r>
          </a:p>
          <a:p>
            <a:r>
              <a:rPr lang="it-IT" dirty="0"/>
              <a:t>Questa architettura presenta vantaggi significativi: permette la centralizzazione dei dati e della logica di business sul server, garantisce che più client possano accedere contemporaneamente alle stesse risorse, e facilita la manutenzione e gli aggiornamenti, che possono essere effettuati centralmente sul server senza dover modificare ogni singolo client.</a:t>
            </a:r>
          </a:p>
          <a:p>
            <a:endParaRPr lang="it-IT" dirty="0"/>
          </a:p>
        </p:txBody>
      </p:sp>
    </p:spTree>
    <p:extLst>
      <p:ext uri="{BB962C8B-B14F-4D97-AF65-F5344CB8AC3E}">
        <p14:creationId xmlns:p14="http://schemas.microsoft.com/office/powerpoint/2010/main" val="3768526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73F5F-4491-B574-4E57-1C81466498F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F67019E-E49F-6A44-0840-E45D2D2EEC9F}"/>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176AFC15-C90D-3761-AC4E-9DF1158612A2}"/>
              </a:ext>
            </a:extLst>
          </p:cNvPr>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050803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BB800-D73B-5057-90DB-AE98A2AC63E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A360FAB-AA11-89B7-F630-97C16A6B05C0}"/>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1CECB607-905C-5F6D-73DF-D2CBE73BC90D}"/>
              </a:ext>
            </a:extLst>
          </p:cNvPr>
          <p:cNvSpPr>
            <a:spLocks noGrp="1"/>
          </p:cNvSpPr>
          <p:nvPr>
            <p:ph type="body" idx="1"/>
          </p:nvPr>
        </p:nvSpPr>
        <p:spPr/>
        <p:txBody>
          <a:bodyPr/>
          <a:lstStyle/>
          <a:p>
            <a:r>
              <a:rPr lang="it-IT" dirty="0"/>
              <a:t>Ogni volta che navigate sul Web utilizzate delle URL, ma cosa rappresentano realmente questi indirizzi che digitiamo nella barra del browser? Una URL è molto più di una semplice stringa di caratteri: è una mappa dettagliata che dice al browser esattamente dove andare e cosa chiedere.</a:t>
            </a:r>
          </a:p>
          <a:p>
            <a:r>
              <a:rPr lang="it-IT" dirty="0"/>
              <a:t>Analizziamo insieme un esempio completo: https://www.example.com:443/products/</a:t>
            </a:r>
            <a:r>
              <a:rPr lang="it-IT" dirty="0" err="1"/>
              <a:t>shoes?color</a:t>
            </a:r>
            <a:r>
              <a:rPr lang="it-IT" dirty="0"/>
              <a:t>=</a:t>
            </a:r>
            <a:r>
              <a:rPr lang="it-IT" dirty="0" err="1"/>
              <a:t>red&amp;size</a:t>
            </a:r>
            <a:r>
              <a:rPr lang="it-IT" dirty="0"/>
              <a:t>=42#reviews. La prima parte, https://, è il protocollo, che specifica il metodo di comunicazione da utilizzare. HTTPS è la versione sicura di HTTP, che cripta tutti i dati trasmessi. Segue il dominio </a:t>
            </a:r>
            <a:r>
              <a:rPr lang="it-IT" dirty="0" err="1"/>
              <a:t>www.example.com</a:t>
            </a:r>
            <a:r>
              <a:rPr lang="it-IT" dirty="0"/>
              <a:t>, che è il nome human-</a:t>
            </a:r>
            <a:r>
              <a:rPr lang="it-IT" dirty="0" err="1"/>
              <a:t>readable</a:t>
            </a:r>
            <a:r>
              <a:rPr lang="it-IT" dirty="0"/>
              <a:t> del server di destinazione, molto più facile da ricordare rispetto al suo indirizzo IP numerico.</a:t>
            </a:r>
          </a:p>
          <a:p>
            <a:r>
              <a:rPr lang="it-IT" dirty="0"/>
              <a:t>La porta :443 è opzionale nella URL perché 443 è la porta standard per HTTPS, così come 80 è la porta standard per HTTP. Se un server utilizza una porta diversa, deve essere specificata esplicitamente. Il percorso /products/</a:t>
            </a:r>
            <a:r>
              <a:rPr lang="it-IT" dirty="0" err="1"/>
              <a:t>shoes</a:t>
            </a:r>
            <a:r>
              <a:rPr lang="it-IT" dirty="0"/>
              <a:t> indica la specifica risorsa richiesta sul server, simile a come navigate nelle cartelle del vostro computer.</a:t>
            </a:r>
          </a:p>
          <a:p>
            <a:r>
              <a:rPr lang="it-IT" dirty="0"/>
              <a:t>La query </a:t>
            </a:r>
            <a:r>
              <a:rPr lang="it-IT" dirty="0" err="1"/>
              <a:t>string</a:t>
            </a:r>
            <a:r>
              <a:rPr lang="it-IT" dirty="0"/>
              <a:t> ?color=</a:t>
            </a:r>
            <a:r>
              <a:rPr lang="it-IT" dirty="0" err="1"/>
              <a:t>red&amp;size</a:t>
            </a:r>
            <a:r>
              <a:rPr lang="it-IT" dirty="0"/>
              <a:t>=42 contiene parametri aggiuntivi che vengono passati al server per filtrare o personalizzare la risposta. Infine, il </a:t>
            </a:r>
            <a:r>
              <a:rPr lang="it-IT" dirty="0" err="1"/>
              <a:t>fragment</a:t>
            </a:r>
            <a:r>
              <a:rPr lang="it-IT" dirty="0"/>
              <a:t> #reviews indica una sezione specifica della pagina web, utilizzata dal browser per posizionare automaticamente la visualizzazione su quella parte del contenuto. È importante notare che il </a:t>
            </a:r>
            <a:r>
              <a:rPr lang="it-IT" dirty="0" err="1"/>
              <a:t>fragment</a:t>
            </a:r>
            <a:r>
              <a:rPr lang="it-IT" dirty="0"/>
              <a:t> non viene mai inviato al server, ma viene gestito interamente dal browser.</a:t>
            </a:r>
          </a:p>
          <a:p>
            <a:endParaRPr lang="it-IT" dirty="0"/>
          </a:p>
        </p:txBody>
      </p:sp>
    </p:spTree>
    <p:extLst>
      <p:ext uri="{BB962C8B-B14F-4D97-AF65-F5344CB8AC3E}">
        <p14:creationId xmlns:p14="http://schemas.microsoft.com/office/powerpoint/2010/main" val="2878629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88B0-B065-9261-7A66-E506158D842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8894AEF-176F-1B77-0056-8B72657F2F8F}"/>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1632A5B1-41B6-D243-13A7-2E81B37DAD96}"/>
              </a:ext>
            </a:extLst>
          </p:cNvPr>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850392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621A-F416-1576-A697-10F4D48FF37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46F72F9-D099-C947-4067-4A445404D9F0}"/>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AE3F3CCA-1DF8-DA5B-AA7C-0AFE902F3ED2}"/>
              </a:ext>
            </a:extLst>
          </p:cNvPr>
          <p:cNvSpPr>
            <a:spLocks noGrp="1"/>
          </p:cNvSpPr>
          <p:nvPr>
            <p:ph type="body" idx="1"/>
          </p:nvPr>
        </p:nvSpPr>
        <p:spPr/>
        <p:txBody>
          <a:bodyPr/>
          <a:lstStyle/>
          <a:p>
            <a:r>
              <a:rPr lang="it-IT" dirty="0"/>
              <a:t>I metodi HTTP rappresentano i verbi del linguaggio web, definendo esattamente quale azione il client vuole eseguire sulla risorsa specificata. Questa standardizzazione è fondamentale perché permette a client e server sviluppati da team diversi di comunicare efficacemente utilizzando un vocabolario comune.</a:t>
            </a:r>
          </a:p>
          <a:p>
            <a:r>
              <a:rPr lang="it-IT" dirty="0"/>
              <a:t>Il metodo GET è il più utilizzato e serve per recuperare dati dal server senza modificare lo stato della risorsa. È considerato un metodo sicuro perché non dovrebbe avere effetti collaterali sul server, e idempotente perché eseguire la stessa richiesta GET multiple volte produce sempre lo stesso risultato. I browser utilizzano GET per caricare pagine web, immagini, fogli di stile, e tutti i contenuti statici.</a:t>
            </a:r>
          </a:p>
          <a:p>
            <a:r>
              <a:rPr lang="it-IT" dirty="0"/>
              <a:t>POST viene utilizzato per inviare dati al server per creare nuove risorse o innescare processi. A differenza di GET, POST non è idempotente: inviare la stessa richiesta POST due volte potrebbe creare due risorse distinte. È il metodo utilizzato quando inviate un form web, caricate un file, o create un nuovo post sui social media.</a:t>
            </a:r>
          </a:p>
          <a:p>
            <a:r>
              <a:rPr lang="it-IT" dirty="0"/>
              <a:t>PUT è progettato per aggiornare completamente una risorsa esistente o crearla se non esiste. È idempotente: eseguire la stessa operazione PUT multiple volte lascia la risorsa nello stesso stato finale. DELETE, come suggerisce il nome, rimuove la risorsa specificata ed è anch'esso idempotente.</a:t>
            </a:r>
          </a:p>
          <a:p>
            <a:r>
              <a:rPr lang="it-IT" dirty="0"/>
              <a:t>Esistono altri metodi meno comuni ma importanti: HEAD funziona come GET ma restituisce solo gli </a:t>
            </a:r>
            <a:r>
              <a:rPr lang="it-IT" dirty="0" err="1"/>
              <a:t>header</a:t>
            </a:r>
            <a:r>
              <a:rPr lang="it-IT" dirty="0"/>
              <a:t> senza il body, utile per verificare l'esistenza di una risorsa o ottenere metadati senza trasferire tutto il contenuto. PATCH permette aggiornamenti parziali, e OPTIONS viene utilizzato per scoprire quali metodi sono supportati dal server per una specifica risorsa, fondamentale per il meccanismo CORS nelle applicazioni web moderne.</a:t>
            </a:r>
          </a:p>
          <a:p>
            <a:endParaRPr lang="it-IT" dirty="0"/>
          </a:p>
        </p:txBody>
      </p:sp>
    </p:spTree>
    <p:extLst>
      <p:ext uri="{BB962C8B-B14F-4D97-AF65-F5344CB8AC3E}">
        <p14:creationId xmlns:p14="http://schemas.microsoft.com/office/powerpoint/2010/main" val="3709309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B809E-0EA4-54A1-EEE5-01B08D2B217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959C117-1B63-DF90-57F7-2664729E6987}"/>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93EED07C-9A8F-9E85-F612-294F84716784}"/>
              </a:ext>
            </a:extLst>
          </p:cNvPr>
          <p:cNvSpPr>
            <a:spLocks noGrp="1"/>
          </p:cNvSpPr>
          <p:nvPr>
            <p:ph type="body" idx="1"/>
          </p:nvPr>
        </p:nvSpPr>
        <p:spPr/>
        <p:txBody>
          <a:bodyPr/>
          <a:lstStyle/>
          <a:p>
            <a:r>
              <a:rPr lang="it-IT" dirty="0"/>
              <a:t>Una richiesta HTTP è un messaggio strutturato che il client invia al server per comunicare esattamente cosa desidera ottenere. La bellezza del protocollo HTTP risiede nella sua semplicità testuale: è completamente leggibile da un essere umano, il che lo rende facile da debuggare e comprendere.</a:t>
            </a:r>
          </a:p>
          <a:p>
            <a:r>
              <a:rPr lang="it-IT" dirty="0"/>
              <a:t>La prima riga della richiesta, chiamata </a:t>
            </a:r>
            <a:r>
              <a:rPr lang="it-IT" dirty="0" err="1"/>
              <a:t>request</a:t>
            </a:r>
            <a:r>
              <a:rPr lang="it-IT" dirty="0"/>
              <a:t> line, contiene tre elementi essenziali: il metodo HTTP che indica l'azione desiderata, l'URI che specifica la risorsa target, e la versione del protocollo HTTP utilizzata. Ad esempio, GET /api/users/123 HTTP/1.1 indica che vogliamo recuperare i dati dell'utente con ID 123 utilizzando HTTP versione 1.1.</a:t>
            </a:r>
          </a:p>
          <a:p>
            <a:r>
              <a:rPr lang="it-IT" dirty="0"/>
              <a:t>Seguono gli </a:t>
            </a:r>
            <a:r>
              <a:rPr lang="it-IT" dirty="0" err="1"/>
              <a:t>header</a:t>
            </a:r>
            <a:r>
              <a:rPr lang="it-IT" dirty="0"/>
              <a:t> HTTP, una serie di coppie chiave-valore che forniscono metadati sulla richiesta. L'</a:t>
            </a:r>
            <a:r>
              <a:rPr lang="it-IT" dirty="0" err="1"/>
              <a:t>header</a:t>
            </a:r>
            <a:r>
              <a:rPr lang="it-IT" dirty="0"/>
              <a:t> Host è obbligatorio in HTTP/1.1 e specifica il nome del server di destinazione, essenziale perché un singolo server fisico può ospitare centinaia di siti web diversi. User-Agent identifica il software client che sta facendo la richiesta, permettendo al server di adattare la risposta se necessario.</a:t>
            </a:r>
          </a:p>
          <a:p>
            <a:r>
              <a:rPr lang="it-IT" dirty="0"/>
              <a:t>Altri </a:t>
            </a:r>
            <a:r>
              <a:rPr lang="it-IT" dirty="0" err="1"/>
              <a:t>header</a:t>
            </a:r>
            <a:r>
              <a:rPr lang="it-IT" dirty="0"/>
              <a:t> comuni includono </a:t>
            </a:r>
            <a:r>
              <a:rPr lang="it-IT" dirty="0" err="1"/>
              <a:t>Accept</a:t>
            </a:r>
            <a:r>
              <a:rPr lang="it-IT" dirty="0"/>
              <a:t>, che elenca i tipi di contenuto che il client è in grado di gestire, </a:t>
            </a:r>
            <a:r>
              <a:rPr lang="it-IT" dirty="0" err="1"/>
              <a:t>Accept</a:t>
            </a:r>
            <a:r>
              <a:rPr lang="it-IT" dirty="0"/>
              <a:t>-Language per la localizzazione, </a:t>
            </a:r>
            <a:r>
              <a:rPr lang="it-IT" dirty="0" err="1"/>
              <a:t>Authorization</a:t>
            </a:r>
            <a:r>
              <a:rPr lang="it-IT" dirty="0"/>
              <a:t> per l'autenticazione, e Cookie per il mantenimento dello stato tra richieste successive. Alcuni metodi HTTP, come POST e PUT, possono includere anche un body contenente dati da inviare al server, separato dagli </a:t>
            </a:r>
            <a:r>
              <a:rPr lang="it-IT" dirty="0" err="1"/>
              <a:t>header</a:t>
            </a:r>
            <a:r>
              <a:rPr lang="it-IT" dirty="0"/>
              <a:t> da una riga vuota.</a:t>
            </a:r>
          </a:p>
          <a:p>
            <a:r>
              <a:rPr lang="it-IT" dirty="0"/>
              <a:t>La flessibilità degli </a:t>
            </a:r>
            <a:r>
              <a:rPr lang="it-IT" dirty="0" err="1"/>
              <a:t>header</a:t>
            </a:r>
            <a:r>
              <a:rPr lang="it-IT" dirty="0"/>
              <a:t> HTTP permette di estendere il protocollo con nuove funzionalità senza modificarne la struttura base, motivo per cui HTTP è rimasto rilevante e si è evoluto nel corso dei decenni per supportare le esigenze sempre più complesse delle applicazioni web moderne.</a:t>
            </a:r>
          </a:p>
          <a:p>
            <a:endParaRPr lang="it-IT" dirty="0"/>
          </a:p>
        </p:txBody>
      </p:sp>
    </p:spTree>
    <p:extLst>
      <p:ext uri="{BB962C8B-B14F-4D97-AF65-F5344CB8AC3E}">
        <p14:creationId xmlns:p14="http://schemas.microsoft.com/office/powerpoint/2010/main" val="1796324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B4BBD-7F8A-E2E6-5EF0-7DBEBB87AFA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D434DBE-CC83-4722-B841-F07040A6864C}"/>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2EE3D537-B346-74B4-8C3F-AD3E81F66434}"/>
              </a:ext>
            </a:extLst>
          </p:cNvPr>
          <p:cNvSpPr>
            <a:spLocks noGrp="1"/>
          </p:cNvSpPr>
          <p:nvPr>
            <p:ph type="body" idx="1"/>
          </p:nvPr>
        </p:nvSpPr>
        <p:spPr/>
        <p:txBody>
          <a:bodyPr/>
          <a:lstStyle/>
          <a:p>
            <a:r>
              <a:rPr lang="it-IT" dirty="0"/>
              <a:t>Dopo aver elaborato una richiesta, il server costruisce una risposta HTTP strutturata che comunica al client non solo i dati richiesti, ma anche importanti informazioni di contesto sull'operazione eseguita. Come la richiesta, anche la risposta HTTP segue un formato testuale standardizzato che la rende facilmente interpretabile.</a:t>
            </a:r>
          </a:p>
          <a:p>
            <a:r>
              <a:rPr lang="it-IT" dirty="0"/>
              <a:t>La prima riga della risposta, chiamata status line, contiene la versione del protocollo HTTP, il codice di stato numerico, e una breve descrizione testuale dello stato. Ad esempio, HTTP/1.1 200 OK indica che la richiesta è stata processata con successo utilizzando HTTP versione 1.1. Questa linea fornisce al client un'indicazione immediata sull'esito dell'operazione.</a:t>
            </a:r>
          </a:p>
          <a:p>
            <a:r>
              <a:rPr lang="it-IT" dirty="0"/>
              <a:t>Gli </a:t>
            </a:r>
            <a:r>
              <a:rPr lang="it-IT" dirty="0" err="1"/>
              <a:t>header</a:t>
            </a:r>
            <a:r>
              <a:rPr lang="it-IT" dirty="0"/>
              <a:t> di risposta forniscono metadati cruciali per l'interpretazione del contenuto. Content-</a:t>
            </a:r>
            <a:r>
              <a:rPr lang="it-IT" dirty="0" err="1"/>
              <a:t>Type</a:t>
            </a:r>
            <a:r>
              <a:rPr lang="it-IT" dirty="0"/>
              <a:t> specifica il tipo MIME del contenuto restituito, permettendo al browser di sapere se si tratta di HTML da renderizzare, JSON da elaborare con JavaScript, o un'immagine da visualizzare. Content-</a:t>
            </a:r>
            <a:r>
              <a:rPr lang="it-IT" dirty="0" err="1"/>
              <a:t>Length</a:t>
            </a:r>
            <a:r>
              <a:rPr lang="it-IT" dirty="0"/>
              <a:t> indica la dimensione esatta del body in byte, permettendo al client di sapere quando ha ricevuto tutto il contenuto.</a:t>
            </a:r>
          </a:p>
          <a:p>
            <a:r>
              <a:rPr lang="it-IT" dirty="0"/>
              <a:t>Altri </a:t>
            </a:r>
            <a:r>
              <a:rPr lang="it-IT" dirty="0" err="1"/>
              <a:t>header</a:t>
            </a:r>
            <a:r>
              <a:rPr lang="it-IT" dirty="0"/>
              <a:t> comuni includono Set-Cookie per impostare cookie nel browser del client, Cache-Control per definire le politiche di caching, Location per i </a:t>
            </a:r>
            <a:r>
              <a:rPr lang="it-IT" dirty="0" err="1"/>
              <a:t>redirect</a:t>
            </a:r>
            <a:r>
              <a:rPr lang="it-IT" dirty="0"/>
              <a:t>, e Server che identifica il software server utilizzato. Gli </a:t>
            </a:r>
            <a:r>
              <a:rPr lang="it-IT" dirty="0" err="1"/>
              <a:t>header</a:t>
            </a:r>
            <a:r>
              <a:rPr lang="it-IT" dirty="0"/>
              <a:t> personalizzati, tipicamente prefissati con X-, permettono di estendere il protocollo con informazioni specifiche dell'applicazione.</a:t>
            </a:r>
          </a:p>
          <a:p>
            <a:r>
              <a:rPr lang="it-IT" dirty="0"/>
              <a:t>Il body della risposta contiene il contenuto vero e proprio richiesto dal client. Può essere HTML per le pagine web, JSON per le API, file binari per immagini o documenti, o anche essere completamente assente per alcune tipologie di risposta. La separazione tra </a:t>
            </a:r>
            <a:r>
              <a:rPr lang="it-IT" dirty="0" err="1"/>
              <a:t>header</a:t>
            </a:r>
            <a:r>
              <a:rPr lang="it-IT" dirty="0"/>
              <a:t> e body è marcata da una riga vuota, mantenendo la struttura pulita e </a:t>
            </a:r>
            <a:r>
              <a:rPr lang="it-IT" dirty="0" err="1"/>
              <a:t>parsabile</a:t>
            </a:r>
            <a:r>
              <a:rPr lang="it-IT" dirty="0"/>
              <a:t>.</a:t>
            </a:r>
          </a:p>
          <a:p>
            <a:endParaRPr lang="it-IT" dirty="0"/>
          </a:p>
        </p:txBody>
      </p:sp>
    </p:spTree>
    <p:extLst>
      <p:ext uri="{BB962C8B-B14F-4D97-AF65-F5344CB8AC3E}">
        <p14:creationId xmlns:p14="http://schemas.microsoft.com/office/powerpoint/2010/main" val="1901264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6E76E-FA34-E5DA-EB43-FA58DCD44E6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AA3EAF7-CA81-B2AE-C0E9-8C9C951E7676}"/>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FBC6862A-0FC7-6EC9-354C-D171816FE108}"/>
              </a:ext>
            </a:extLst>
          </p:cNvPr>
          <p:cNvSpPr>
            <a:spLocks noGrp="1"/>
          </p:cNvSpPr>
          <p:nvPr>
            <p:ph type="body" idx="1"/>
          </p:nvPr>
        </p:nvSpPr>
        <p:spPr/>
        <p:txBody>
          <a:bodyPr/>
          <a:lstStyle/>
          <a:p>
            <a:r>
              <a:rPr lang="it-IT" dirty="0"/>
              <a:t>Quando premete Invio dopo aver digitato una URL o cliccate su un link, si innesca una complessa sequenza di eventi che avviene in frazioni di secondo, completamente trasparente all'utente ma fondamentale per il funzionamento del Web. Questo processo, chiamato ciclo HTTP, coinvolge diverse tecnologie e protocolli che lavorano in perfetta sincronia.</a:t>
            </a:r>
          </a:p>
          <a:p>
            <a:r>
              <a:rPr lang="it-IT" dirty="0"/>
              <a:t>Il primo passo è la risoluzione DNS: il browser deve tradurre il nome del dominio in un indirizzo IP numerico, perché i computer comunicano utilizzando numeri, non nomi. Questo processo può richiedere diverse query a server DNS distribuiti geograficamente, ma viene ottimizzato attraverso sistemi di cache a più livelli.</a:t>
            </a:r>
          </a:p>
          <a:p>
            <a:r>
              <a:rPr lang="it-IT" dirty="0"/>
              <a:t>Una volta ottenuto l'indirizzo IP, il browser stabilisce una connessione TCP con il server di destinazione. TCP è un protocollo affidabile che garantisce che tutti i dati vengano trasmessi correttamente e nell'ordine giusto. Se la connessione è HTTPS, viene aggiunto un ulteriore </a:t>
            </a:r>
            <a:r>
              <a:rPr lang="it-IT" dirty="0" err="1"/>
              <a:t>handshake</a:t>
            </a:r>
            <a:r>
              <a:rPr lang="it-IT" dirty="0"/>
              <a:t> TLS per stabilire un canale di comunicazione crittografato.</a:t>
            </a:r>
          </a:p>
          <a:p>
            <a:r>
              <a:rPr lang="it-IT" dirty="0"/>
              <a:t>A questo punto il browser formula la richiesta HTTP vera e propria, specificando cosa vuole (il metodo), quale risorsa desidera (il percorso), e include informazioni aggiuntive attraverso gli </a:t>
            </a:r>
            <a:r>
              <a:rPr lang="it-IT" dirty="0" err="1"/>
              <a:t>header</a:t>
            </a:r>
            <a:r>
              <a:rPr lang="it-IT" dirty="0"/>
              <a:t> HTTP. Il server riceve la richiesta, la elabora consultando database o file system se necessario, e costruisce una risposta HTTP che include un codice di stato, </a:t>
            </a:r>
            <a:r>
              <a:rPr lang="it-IT" dirty="0" err="1"/>
              <a:t>header</a:t>
            </a:r>
            <a:r>
              <a:rPr lang="it-IT" dirty="0"/>
              <a:t> di risposta, e il contenuto richiesto.</a:t>
            </a:r>
          </a:p>
          <a:p>
            <a:r>
              <a:rPr lang="it-IT" dirty="0"/>
              <a:t>La risposta viaggia indietro attraverso Internet fino al browser, che interpreta il contenuto ricevuto, renderizza le pagine HTML, esegue il JavaScript, e presenta il risultato finale all'utente. Tutto questo processo tipicamente si completa in tempi che vanno dai 50 millisecondi per server locali fino a qualche secondo per contenuti complessi provenienti dall'altra parte del mondo.</a:t>
            </a:r>
          </a:p>
          <a:p>
            <a:endParaRPr lang="it-IT" dirty="0"/>
          </a:p>
        </p:txBody>
      </p:sp>
    </p:spTree>
    <p:extLst>
      <p:ext uri="{BB962C8B-B14F-4D97-AF65-F5344CB8AC3E}">
        <p14:creationId xmlns:p14="http://schemas.microsoft.com/office/powerpoint/2010/main" val="1147059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77077-1C77-943B-E409-D4E549D8886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7C4C9A5-BB21-69C9-CC3A-9D95E963B062}"/>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D683AE0B-4DDA-4EE7-56D7-5650FAA90D43}"/>
              </a:ext>
            </a:extLst>
          </p:cNvPr>
          <p:cNvSpPr>
            <a:spLocks noGrp="1"/>
          </p:cNvSpPr>
          <p:nvPr>
            <p:ph type="body" idx="1"/>
          </p:nvPr>
        </p:nvSpPr>
        <p:spPr/>
        <p:txBody>
          <a:bodyPr/>
          <a:lstStyle/>
          <a:p>
            <a:r>
              <a:rPr lang="it-IT" dirty="0"/>
              <a:t>I codici di stato HTTP rappresentano un sistema di comunicazione standardizzato che permette al server di comunicare rapidamente al client l'esito dell'elaborazione della richiesta. Questo sistema a tre cifre è organizzato in cinque categorie distinte, ognuna con un significato specifico che aiuta client e sviluppatori a comprendere immediatamente cosa è successo.</a:t>
            </a:r>
          </a:p>
          <a:p>
            <a:r>
              <a:rPr lang="it-IT" dirty="0"/>
              <a:t>I codici 1xx sono informativi e indicano che la richiesta è stata ricevuta e il processo continua. Sono raramente visibili agli utenti finali ma importanti per l'ottimizzazione delle prestazioni. Il codice 100 Continue, ad esempio, permette al client di verificare se il server è disposto ad accettare il body della richiesta prima di inviarlo, evitando trasferimenti inutili di grandi quantità di dati.</a:t>
            </a:r>
          </a:p>
          <a:p>
            <a:r>
              <a:rPr lang="it-IT" dirty="0"/>
              <a:t>La famiglia 2xx indica successo: la richiesta è stata ricevuta, compresa e accettata. Il classico 200 OK segnala che tutto è andato perfettamente, mentre 201 </a:t>
            </a:r>
            <a:r>
              <a:rPr lang="it-IT" dirty="0" err="1"/>
              <a:t>Created</a:t>
            </a:r>
            <a:r>
              <a:rPr lang="it-IT" dirty="0"/>
              <a:t> indica che una nuova risorsa è stata creata con successo, tipicamente in risposta a una richiesta POST. Il codice 204 No Content indica successo ma senza contenuto da restituire, comune nelle API REST per operazioni di aggiornamento.</a:t>
            </a:r>
          </a:p>
          <a:p>
            <a:r>
              <a:rPr lang="it-IT" dirty="0"/>
              <a:t>I codici 3xx gestiscono i </a:t>
            </a:r>
            <a:r>
              <a:rPr lang="it-IT" dirty="0" err="1"/>
              <a:t>redirect</a:t>
            </a:r>
            <a:r>
              <a:rPr lang="it-IT" dirty="0"/>
              <a:t>, indicando che il client deve intraprendere ulteriori azioni per completare la richiesta. Il 301 </a:t>
            </a:r>
            <a:r>
              <a:rPr lang="it-IT" dirty="0" err="1"/>
              <a:t>Moved</a:t>
            </a:r>
            <a:r>
              <a:rPr lang="it-IT" dirty="0"/>
              <a:t> </a:t>
            </a:r>
            <a:r>
              <a:rPr lang="it-IT" dirty="0" err="1"/>
              <a:t>Permanently</a:t>
            </a:r>
            <a:r>
              <a:rPr lang="it-IT" dirty="0"/>
              <a:t> informa che la risorsa si è spostata definitivamente, mentre 302 </a:t>
            </a:r>
            <a:r>
              <a:rPr lang="it-IT" dirty="0" err="1"/>
              <a:t>Found</a:t>
            </a:r>
            <a:r>
              <a:rPr lang="it-IT" dirty="0"/>
              <a:t> indica uno spostamento temporaneo. Il 304 Not </a:t>
            </a:r>
            <a:r>
              <a:rPr lang="it-IT" dirty="0" err="1"/>
              <a:t>Modified</a:t>
            </a:r>
            <a:r>
              <a:rPr lang="it-IT" dirty="0"/>
              <a:t> è particolarmente importante per l'ottimizzazione: indica che la risorsa non è cambiata dall'ultima volta che il client l'ha richiesta, permettendo di utilizzare la versione in cache.</a:t>
            </a:r>
          </a:p>
          <a:p>
            <a:r>
              <a:rPr lang="it-IT" dirty="0"/>
              <a:t>Gli errori 4xx indicano problemi dal lato client: la richiesta contiene errori o non può essere soddisfatta. Il famigerato 404 Not </a:t>
            </a:r>
            <a:r>
              <a:rPr lang="it-IT" dirty="0" err="1"/>
              <a:t>Found</a:t>
            </a:r>
            <a:r>
              <a:rPr lang="it-IT" dirty="0"/>
              <a:t> indica che la risorsa richiesta non esiste, mentre 401 </a:t>
            </a:r>
            <a:r>
              <a:rPr lang="it-IT" dirty="0" err="1"/>
              <a:t>Unauthorized</a:t>
            </a:r>
            <a:r>
              <a:rPr lang="it-IT" dirty="0"/>
              <a:t> e 403 </a:t>
            </a:r>
            <a:r>
              <a:rPr lang="it-IT" dirty="0" err="1"/>
              <a:t>Forbidden</a:t>
            </a:r>
            <a:r>
              <a:rPr lang="it-IT" dirty="0"/>
              <a:t> gestiscono problemi di autenticazione e autorizzazione. I codici 5xx segnalano errori del server: il 500 </a:t>
            </a:r>
            <a:r>
              <a:rPr lang="it-IT" dirty="0" err="1"/>
              <a:t>Internal</a:t>
            </a:r>
            <a:r>
              <a:rPr lang="it-IT" dirty="0"/>
              <a:t> Server </a:t>
            </a:r>
            <a:r>
              <a:rPr lang="it-IT" dirty="0" err="1"/>
              <a:t>Error</a:t>
            </a:r>
            <a:r>
              <a:rPr lang="it-IT" dirty="0"/>
              <a:t> indica un problema generico lato server, mentre 503 Service </a:t>
            </a:r>
            <a:r>
              <a:rPr lang="it-IT" dirty="0" err="1"/>
              <a:t>Unavailable</a:t>
            </a:r>
            <a:r>
              <a:rPr lang="it-IT" dirty="0"/>
              <a:t> suggerisce che il servizio è temporaneamente non disponibile, spesso per manutenzione o sovraccarico.</a:t>
            </a:r>
          </a:p>
          <a:p>
            <a:endParaRPr lang="it-IT" dirty="0"/>
          </a:p>
        </p:txBody>
      </p:sp>
    </p:spTree>
    <p:extLst>
      <p:ext uri="{BB962C8B-B14F-4D97-AF65-F5344CB8AC3E}">
        <p14:creationId xmlns:p14="http://schemas.microsoft.com/office/powerpoint/2010/main" val="4026862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E3C30-B944-C6AA-90DB-B6314D6AD0F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84A2695-3F16-B449-8DB6-DCB644D61BCB}"/>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53C386FC-B722-04D8-5D98-BFEE3032348F}"/>
              </a:ext>
            </a:extLst>
          </p:cNvPr>
          <p:cNvSpPr>
            <a:spLocks noGrp="1"/>
          </p:cNvSpPr>
          <p:nvPr>
            <p:ph type="body" idx="1"/>
          </p:nvPr>
        </p:nvSpPr>
        <p:spPr/>
        <p:txBody>
          <a:bodyPr/>
          <a:lstStyle/>
          <a:p>
            <a:r>
              <a:rPr lang="it-IT" dirty="0"/>
              <a:t>Il Domain Name System rappresenta una delle infrastrutture più critiche di Internet, spesso definito come "la rubrica di Internet" per la sua funzione di tradurre nomi di dominio human-</a:t>
            </a:r>
            <a:r>
              <a:rPr lang="it-IT" dirty="0" err="1"/>
              <a:t>readable</a:t>
            </a:r>
            <a:r>
              <a:rPr lang="it-IT" dirty="0"/>
              <a:t> in indirizzi IP numerici che i computer possono utilizzare per comunicare. Senza DNS, dovremmo memorizzare indirizzi come 142.250.191.14 invece di </a:t>
            </a:r>
            <a:r>
              <a:rPr lang="it-IT" dirty="0" err="1"/>
              <a:t>google.com</a:t>
            </a:r>
            <a:r>
              <a:rPr lang="it-IT" dirty="0"/>
              <a:t>, rendendo Internet praticamente inutilizzabile per la maggior parte delle persone.</a:t>
            </a:r>
          </a:p>
          <a:p>
            <a:r>
              <a:rPr lang="it-IT" dirty="0"/>
              <a:t>DNS è un sistema distribuito e gerarchico che non ha un singolo punto di controllo centrale. Al vertice della gerarchia troviamo i root server, tredici cluster di server distribuiti globalmente che conoscono l'ubicazione dei server autoritativi per tutti i domini di primo livello come .</a:t>
            </a:r>
            <a:r>
              <a:rPr lang="it-IT" dirty="0" err="1"/>
              <a:t>com</a:t>
            </a:r>
            <a:r>
              <a:rPr lang="it-IT" dirty="0"/>
              <a:t>, .</a:t>
            </a:r>
            <a:r>
              <a:rPr lang="it-IT" dirty="0" err="1"/>
              <a:t>org</a:t>
            </a:r>
            <a:r>
              <a:rPr lang="it-IT" dirty="0"/>
              <a:t>, .</a:t>
            </a:r>
            <a:r>
              <a:rPr lang="it-IT" dirty="0" err="1"/>
              <a:t>it</a:t>
            </a:r>
            <a:r>
              <a:rPr lang="it-IT" dirty="0"/>
              <a:t>. Questi server gestiscono miliardi di query ogni giorno con un'affidabilità straordinaria.</a:t>
            </a:r>
          </a:p>
          <a:p>
            <a:r>
              <a:rPr lang="it-IT" dirty="0"/>
              <a:t>Quando il vostro browser ha bisogno di risolvere un nome di dominio, inizia controllando la propria cache locale. Se l'informazione non è presente o è scaduta, la richiesta viene inoltrata al </a:t>
            </a:r>
            <a:r>
              <a:rPr lang="it-IT" dirty="0" err="1"/>
              <a:t>resolver</a:t>
            </a:r>
            <a:r>
              <a:rPr lang="it-IT" dirty="0"/>
              <a:t> DNS del vostro Internet Service Provider. Questo </a:t>
            </a:r>
            <a:r>
              <a:rPr lang="it-IT" dirty="0" err="1"/>
              <a:t>resolver</a:t>
            </a:r>
            <a:r>
              <a:rPr lang="it-IT" dirty="0"/>
              <a:t> agisce come intermediario, effettuando le query necessarie attraverso la gerarchia DNS e memorizzando i risultati per migliorare le prestazioni delle richieste successive.</a:t>
            </a:r>
          </a:p>
          <a:p>
            <a:r>
              <a:rPr lang="it-IT" dirty="0"/>
              <a:t>Il processo di risoluzione segue un percorso ben definito: il </a:t>
            </a:r>
            <a:r>
              <a:rPr lang="it-IT" dirty="0" err="1"/>
              <a:t>resolver</a:t>
            </a:r>
            <a:r>
              <a:rPr lang="it-IT" dirty="0"/>
              <a:t> interroga prima un root server per scoprire dove sono i server del top-</a:t>
            </a:r>
            <a:r>
              <a:rPr lang="it-IT" dirty="0" err="1"/>
              <a:t>level</a:t>
            </a:r>
            <a:r>
              <a:rPr lang="it-IT" dirty="0"/>
              <a:t> domain, poi interroga questi server per trovare i server autoritativi del dominio specifico, e infine ottiene l'indirizzo IP dalla fonte autoritative. Tutto questo processo è ottimizzato attraverso sofisticati sistemi di caching a più livelli che riducono drasticamente i tempi di risposta e il carico sui server upstream.</a:t>
            </a:r>
          </a:p>
          <a:p>
            <a:r>
              <a:rPr lang="it-IT" dirty="0"/>
              <a:t>La sicurezza DNS è diventata sempre più importante con l'introduzione di DNSSEC, un sistema di firme crittografiche che garantisce l'autenticità delle risposte DNS, proteggendo gli utenti da attacchi di DNS </a:t>
            </a:r>
            <a:r>
              <a:rPr lang="it-IT" dirty="0" err="1"/>
              <a:t>poisoning</a:t>
            </a:r>
            <a:r>
              <a:rPr lang="it-IT" dirty="0"/>
              <a:t> che potrebbero reindirizzarli verso siti malevoli mascherati da servizi legittimi.</a:t>
            </a:r>
          </a:p>
          <a:p>
            <a:endParaRPr lang="it-IT" dirty="0"/>
          </a:p>
        </p:txBody>
      </p:sp>
    </p:spTree>
    <p:extLst>
      <p:ext uri="{BB962C8B-B14F-4D97-AF65-F5344CB8AC3E}">
        <p14:creationId xmlns:p14="http://schemas.microsoft.com/office/powerpoint/2010/main" val="1714136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5EEAE-20EC-24A0-4524-FDA1F2867FF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520BAEC-C4DA-1B47-5E9A-34BCF2BC7ECC}"/>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AE9BC725-17B2-54AA-43CC-D07BD4AFAB98}"/>
              </a:ext>
            </a:extLst>
          </p:cNvPr>
          <p:cNvSpPr>
            <a:spLocks noGrp="1"/>
          </p:cNvSpPr>
          <p:nvPr>
            <p:ph type="body" idx="1"/>
          </p:nvPr>
        </p:nvSpPr>
        <p:spPr/>
        <p:txBody>
          <a:bodyPr/>
          <a:lstStyle/>
          <a:p>
            <a:r>
              <a:rPr lang="it-IT" dirty="0"/>
              <a:t>Gli indirizzi IP e le porte rappresentano il sistema di indirizzamento fondamentale di Internet, funzionando come un codice postale digitale che permette ai dati di raggiungere esattamente la destinazione corretta tra miliardi di dispositivi connessi. Questo sistema a due livelli è elegante nella sua semplicità ma potente nella sua capacità di gestire la complessità della rete globale.</a:t>
            </a:r>
          </a:p>
          <a:p>
            <a:r>
              <a:rPr lang="it-IT" dirty="0"/>
              <a:t>Un indirizzo IP identifica univocamente un dispositivo sulla rete. IPv4, lo standard più diffuso, utilizza 32 bit organizzati in quattro ottetti separati da punti, come 192.168.1.1. Tuttavia, con soli 4 miliardi di indirizzi possibili, IPv4 ha raggiunto i suoi limiti a causa dell'esplosione dei dispositivi connessi. IPv6 risolve questo problema utilizzando 128 bit, fornendo un numero di indirizzi praticamente illimitato, sufficiente per assegnare migliaia di indirizzi a ogni granello di sabbia sulla Terra.</a:t>
            </a:r>
          </a:p>
          <a:p>
            <a:r>
              <a:rPr lang="it-IT" dirty="0"/>
              <a:t>Le porte sono numeri a 16 bit che identificano servizi specifici su un dispositivo. Pensate a un indirizzo IP come all'indirizzo di un grande palazzo: la porta specifica quale appartamento state cercando. Le porte da 0 a 1023 sono riservate per servizi di sistema standard: la porta 80 per HTTP, 443 per HTTPS, 21 per FTP, 22 per SSH, 25 per SMTP.</a:t>
            </a:r>
          </a:p>
          <a:p>
            <a:r>
              <a:rPr lang="it-IT" dirty="0"/>
              <a:t>Quando il vostro browser si connette a un sito web, utilizza tipicamente una porta temporanea ad alto numero per la connessione uscente, mentre si connette alla porta 80 o 443 del server di destinazione. Questo sistema permette a un singolo server di offrire contemporaneamente servizi web, email, trasferimento file e accesso remoto, ognuno sulla propria porta dedicata.</a:t>
            </a:r>
          </a:p>
          <a:p>
            <a:r>
              <a:rPr lang="it-IT" dirty="0"/>
              <a:t>La combinazione di indirizzo IP e porta crea un </a:t>
            </a:r>
            <a:r>
              <a:rPr lang="it-IT" dirty="0" err="1"/>
              <a:t>socket</a:t>
            </a:r>
            <a:r>
              <a:rPr lang="it-IT" dirty="0"/>
              <a:t>, un endpoint univoco per la comunicazione di rete. Questo concetto è fondamentale per comprendere come applicazioni multiple possano coesistere sullo stesso dispositivo senza interferire tra loro, e come i firewall possano controllare selettivamente l'accesso a servizi specifici.</a:t>
            </a:r>
          </a:p>
          <a:p>
            <a:endParaRPr lang="it-IT" dirty="0"/>
          </a:p>
        </p:txBody>
      </p:sp>
    </p:spTree>
    <p:extLst>
      <p:ext uri="{BB962C8B-B14F-4D97-AF65-F5344CB8AC3E}">
        <p14:creationId xmlns:p14="http://schemas.microsoft.com/office/powerpoint/2010/main" val="3045322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3EF96-310E-40C5-D9B1-C0F221D92E5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C45CB67-E619-182A-3FA6-82AF5D77B20C}"/>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8677BD53-9CC2-9571-5C39-4858653874EC}"/>
              </a:ext>
            </a:extLst>
          </p:cNvPr>
          <p:cNvSpPr>
            <a:spLocks noGrp="1"/>
          </p:cNvSpPr>
          <p:nvPr>
            <p:ph type="body" idx="1"/>
          </p:nvPr>
        </p:nvSpPr>
        <p:spPr/>
        <p:txBody>
          <a:bodyPr/>
          <a:lstStyle/>
          <a:p>
            <a:r>
              <a:rPr lang="it-IT" dirty="0"/>
              <a:t>La distinzione tra </a:t>
            </a:r>
            <a:r>
              <a:rPr lang="it-IT" dirty="0" err="1"/>
              <a:t>frontend</a:t>
            </a:r>
            <a:r>
              <a:rPr lang="it-IT" dirty="0"/>
              <a:t> e </a:t>
            </a:r>
            <a:r>
              <a:rPr lang="it-IT" dirty="0" err="1"/>
              <a:t>backend</a:t>
            </a:r>
            <a:r>
              <a:rPr lang="it-IT" dirty="0"/>
              <a:t> rappresenta una delle architetture fondamentali dello sviluppo web moderno, definendo chiaramente le responsabilità e le tecnologie utilizzate per creare applicazioni web complete e funzionali. Questa separazione non è solo tecnica, ma riflette anche diverse competenze professionali e approcci al </a:t>
            </a:r>
            <a:r>
              <a:rPr lang="it-IT" dirty="0" err="1"/>
              <a:t>problem</a:t>
            </a:r>
            <a:r>
              <a:rPr lang="it-IT" dirty="0"/>
              <a:t>-solving.</a:t>
            </a:r>
          </a:p>
          <a:p>
            <a:r>
              <a:rPr lang="it-IT" dirty="0"/>
              <a:t>Il </a:t>
            </a:r>
            <a:r>
              <a:rPr lang="it-IT" dirty="0" err="1"/>
              <a:t>frontend</a:t>
            </a:r>
            <a:r>
              <a:rPr lang="it-IT" dirty="0"/>
              <a:t> rappresenta tutto ciò che l'utente vede e con cui interagisce direttamente: l'interfaccia utente, le animazioni, la disposizione degli elementi, i colori, i font. È la parte dell'applicazione che gira nel browser dell'utente, utilizzando principalmente HTML per la struttura, CSS per l'aspetto visuale, e JavaScript per l'interattività. Il </a:t>
            </a:r>
            <a:r>
              <a:rPr lang="it-IT" dirty="0" err="1"/>
              <a:t>frontend</a:t>
            </a:r>
            <a:r>
              <a:rPr lang="it-IT" dirty="0"/>
              <a:t> deve essere responsive, accessibile, e ottimizzato per diverse dimensioni di schermo e dispositivi.</a:t>
            </a:r>
          </a:p>
          <a:p>
            <a:r>
              <a:rPr lang="it-IT" dirty="0"/>
              <a:t>Gli sviluppatori </a:t>
            </a:r>
            <a:r>
              <a:rPr lang="it-IT" dirty="0" err="1"/>
              <a:t>frontend</a:t>
            </a:r>
            <a:r>
              <a:rPr lang="it-IT" dirty="0"/>
              <a:t> si preoccupano dell'esperienza utente, dell'usabilità, delle performance di rendering, e della compatibilità cross-browser. Utilizzano framework moderni come React, </a:t>
            </a:r>
            <a:r>
              <a:rPr lang="it-IT" dirty="0" err="1"/>
              <a:t>Vue.js</a:t>
            </a:r>
            <a:r>
              <a:rPr lang="it-IT" dirty="0"/>
              <a:t>, o </a:t>
            </a:r>
            <a:r>
              <a:rPr lang="it-IT" dirty="0" err="1"/>
              <a:t>Angular</a:t>
            </a:r>
            <a:r>
              <a:rPr lang="it-IT" dirty="0"/>
              <a:t> per creare interfacce complesse e dinamiche, e devono bilanciare funzionalità ricche con tempi di caricamento rapidi. Il loro lavoro è immediatamente visibile e giudicabile dagli utenti finali.</a:t>
            </a:r>
          </a:p>
          <a:p>
            <a:r>
              <a:rPr lang="it-IT" dirty="0"/>
              <a:t>Il </a:t>
            </a:r>
            <a:r>
              <a:rPr lang="it-IT" dirty="0" err="1"/>
              <a:t>backend</a:t>
            </a:r>
            <a:r>
              <a:rPr lang="it-IT" dirty="0"/>
              <a:t>, invece, è la parte invisibile dell'applicazione che gestisce la logica di business, l'autenticazione, l'autorizzazione, la manipolazione dei dati, e l'integrazione con sistemi esterni. Gira sui server e può essere sviluppato in linguaggi come Python, Java, </a:t>
            </a:r>
            <a:r>
              <a:rPr lang="it-IT" dirty="0" err="1"/>
              <a:t>Node.js</a:t>
            </a:r>
            <a:r>
              <a:rPr lang="it-IT" dirty="0"/>
              <a:t>, PHP, C#, o Go. Il </a:t>
            </a:r>
            <a:r>
              <a:rPr lang="it-IT" dirty="0" err="1"/>
              <a:t>backend</a:t>
            </a:r>
            <a:r>
              <a:rPr lang="it-IT" dirty="0"/>
              <a:t> si occupa di ricevere le richieste dal </a:t>
            </a:r>
            <a:r>
              <a:rPr lang="it-IT" dirty="0" err="1"/>
              <a:t>frontend</a:t>
            </a:r>
            <a:r>
              <a:rPr lang="it-IT" dirty="0"/>
              <a:t>, elaborarle secondo le regole di business, interagire con database e servizi esterni, e restituire le risposte appropriate.</a:t>
            </a:r>
          </a:p>
          <a:p>
            <a:r>
              <a:rPr lang="it-IT" dirty="0"/>
              <a:t>La comunicazione tra </a:t>
            </a:r>
            <a:r>
              <a:rPr lang="it-IT" dirty="0" err="1"/>
              <a:t>frontend</a:t>
            </a:r>
            <a:r>
              <a:rPr lang="it-IT" dirty="0"/>
              <a:t> e </a:t>
            </a:r>
            <a:r>
              <a:rPr lang="it-IT" dirty="0" err="1"/>
              <a:t>backend</a:t>
            </a:r>
            <a:r>
              <a:rPr lang="it-IT" dirty="0"/>
              <a:t> avviene tipicamente attraverso API HTTP, spesso utilizzando il formato JSON per lo scambio di dati. Questa architettura permette di sviluppare, testare, e aggiornare </a:t>
            </a:r>
            <a:r>
              <a:rPr lang="it-IT" dirty="0" err="1"/>
              <a:t>frontend</a:t>
            </a:r>
            <a:r>
              <a:rPr lang="it-IT" dirty="0"/>
              <a:t> e </a:t>
            </a:r>
            <a:r>
              <a:rPr lang="it-IT" dirty="0" err="1"/>
              <a:t>backend</a:t>
            </a:r>
            <a:r>
              <a:rPr lang="it-IT" dirty="0"/>
              <a:t> indipendentemente, facilitando il lavoro di team distribuiti e permettendo di riutilizzare lo stesso </a:t>
            </a:r>
            <a:r>
              <a:rPr lang="it-IT" dirty="0" err="1"/>
              <a:t>backend</a:t>
            </a:r>
            <a:r>
              <a:rPr lang="it-IT" dirty="0"/>
              <a:t> per diverse interfacce utente, come app web, mobile, o desktop.</a:t>
            </a:r>
          </a:p>
          <a:p>
            <a:endParaRPr lang="it-IT" dirty="0"/>
          </a:p>
        </p:txBody>
      </p:sp>
    </p:spTree>
    <p:extLst>
      <p:ext uri="{BB962C8B-B14F-4D97-AF65-F5344CB8AC3E}">
        <p14:creationId xmlns:p14="http://schemas.microsoft.com/office/powerpoint/2010/main" val="2838002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CF584-6927-DA8C-A54D-C9ABB144EEA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397086C-641F-51B2-949B-481294BDA1DD}"/>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974DA112-1AC4-1391-93FD-D0ADD075CA24}"/>
              </a:ext>
            </a:extLst>
          </p:cNvPr>
          <p:cNvSpPr>
            <a:spLocks noGrp="1"/>
          </p:cNvSpPr>
          <p:nvPr>
            <p:ph type="body" idx="1"/>
          </p:nvPr>
        </p:nvSpPr>
        <p:spPr/>
        <p:txBody>
          <a:bodyPr/>
          <a:lstStyle/>
          <a:p>
            <a:r>
              <a:rPr lang="it-IT" dirty="0"/>
              <a:t>Ora mettiamo in pratica tutto quello che abbiamo imparato esplorando direttamente il protocollo HTTP utilizzando strumenti che vi permetteranno di vedere esattamente cosa succede dietro le quinte di ogni interazione web. Questa sessione pratica vi darà una comprensione tangibile dei concetti teorici che abbiamo discusso.</a:t>
            </a:r>
          </a:p>
          <a:p>
            <a:r>
              <a:rPr lang="it-IT" dirty="0"/>
              <a:t>Iniziamo con gli strumenti di sviluppo integrati nel vostro browser, accessibili premendo F12 o facendo clic destro e selezionando "Ispeziona elemento". La scheda Network è particolarmente preziosa: vi mostra ogni singola richiesta HTTP che il browser effettua quando caricate una pagina. Provate a visitare un sito web qualsiasi e osservate la cascata di richieste: prima l'HTML principale, poi i file CSS, le immagini, i script JavaScript. Cliccando su ogni richiesta potete vedere gli </a:t>
            </a:r>
            <a:r>
              <a:rPr lang="it-IT" dirty="0" err="1"/>
              <a:t>header</a:t>
            </a:r>
            <a:r>
              <a:rPr lang="it-IT" dirty="0"/>
              <a:t> completi, i tempi di risposta, e le dimensioni dei file trasferiti.</a:t>
            </a:r>
          </a:p>
          <a:p>
            <a:r>
              <a:rPr lang="it-IT" dirty="0" err="1"/>
              <a:t>cURL</a:t>
            </a:r>
            <a:r>
              <a:rPr lang="it-IT" dirty="0"/>
              <a:t> è uno strumento da riga di comando estremamente potente per interagire con server web. Con un semplice comando come </a:t>
            </a:r>
            <a:r>
              <a:rPr lang="it-IT" dirty="0" err="1"/>
              <a:t>curl</a:t>
            </a:r>
            <a:r>
              <a:rPr lang="it-IT" dirty="0"/>
              <a:t> -v https://</a:t>
            </a:r>
            <a:r>
              <a:rPr lang="it-IT" dirty="0" err="1"/>
              <a:t>httpbin.org</a:t>
            </a:r>
            <a:r>
              <a:rPr lang="it-IT" dirty="0"/>
              <a:t>/</a:t>
            </a:r>
            <a:r>
              <a:rPr lang="it-IT" dirty="0" err="1"/>
              <a:t>get</a:t>
            </a:r>
            <a:r>
              <a:rPr lang="it-IT" dirty="0"/>
              <a:t> potete vedere esattamente la richiesta inviata e la risposta ricevuta, inclusi tutti gli </a:t>
            </a:r>
            <a:r>
              <a:rPr lang="it-IT" dirty="0" err="1"/>
              <a:t>header</a:t>
            </a:r>
            <a:r>
              <a:rPr lang="it-IT" dirty="0"/>
              <a:t>. L'opzione -v attiva il mode verbose che mostra la comunicazione completa. Provate anche </a:t>
            </a:r>
            <a:r>
              <a:rPr lang="it-IT" dirty="0" err="1"/>
              <a:t>curl</a:t>
            </a:r>
            <a:r>
              <a:rPr lang="it-IT" dirty="0"/>
              <a:t> -X POST -d "name=</a:t>
            </a:r>
            <a:r>
              <a:rPr lang="it-IT" dirty="0" err="1"/>
              <a:t>Mario&amp;age</a:t>
            </a:r>
            <a:r>
              <a:rPr lang="it-IT" dirty="0"/>
              <a:t>=30" https://</a:t>
            </a:r>
            <a:r>
              <a:rPr lang="it-IT" dirty="0" err="1"/>
              <a:t>httpbin.org</a:t>
            </a:r>
            <a:r>
              <a:rPr lang="it-IT" dirty="0"/>
              <a:t>/post per vedere come vengono inviati i dati con il metodo POST.</a:t>
            </a:r>
          </a:p>
          <a:p>
            <a:r>
              <a:rPr lang="it-IT" dirty="0" err="1"/>
              <a:t>Postman</a:t>
            </a:r>
            <a:r>
              <a:rPr lang="it-IT" dirty="0"/>
              <a:t> offre un'interfaccia grafica intuitiva per testare API e esplorare richieste HTTP complesse. Potete creare collezioni di richieste, impostare variabili d'ambiente, e automatizzare test delle API. È particolarmente utile per sviluppatori che lavorano con servizi web </a:t>
            </a:r>
            <a:r>
              <a:rPr lang="it-IT" dirty="0" err="1"/>
              <a:t>RESTful</a:t>
            </a:r>
            <a:r>
              <a:rPr lang="it-IT" dirty="0"/>
              <a:t>.</a:t>
            </a:r>
          </a:p>
          <a:p>
            <a:r>
              <a:rPr lang="it-IT" dirty="0"/>
              <a:t>Per i nostri esperimenti, utilizzeremo </a:t>
            </a:r>
            <a:r>
              <a:rPr lang="it-IT" dirty="0" err="1"/>
              <a:t>httpbin.org</a:t>
            </a:r>
            <a:r>
              <a:rPr lang="it-IT" dirty="0"/>
              <a:t>, un servizio che fa eco delle richieste HTTP che riceve, perfetto per capire esattamente cosa state inviando. Provate diversi endpoint come /</a:t>
            </a:r>
            <a:r>
              <a:rPr lang="it-IT" dirty="0" err="1"/>
              <a:t>headers</a:t>
            </a:r>
            <a:r>
              <a:rPr lang="it-IT" dirty="0"/>
              <a:t> per vedere i vostri </a:t>
            </a:r>
            <a:r>
              <a:rPr lang="it-IT" dirty="0" err="1"/>
              <a:t>header</a:t>
            </a:r>
            <a:r>
              <a:rPr lang="it-IT" dirty="0"/>
              <a:t>, /</a:t>
            </a:r>
            <a:r>
              <a:rPr lang="it-IT" dirty="0" err="1"/>
              <a:t>ip</a:t>
            </a:r>
            <a:r>
              <a:rPr lang="it-IT" dirty="0"/>
              <a:t> per il vostro indirizzo IP pubblico, /delay/3 per simulare risposte lente. Anche </a:t>
            </a:r>
            <a:r>
              <a:rPr lang="it-IT" dirty="0" err="1"/>
              <a:t>jsonplaceholder.typicode.com</a:t>
            </a:r>
            <a:r>
              <a:rPr lang="it-IT" dirty="0"/>
              <a:t> offre un'API fake completa che simula un blog con utenti, post e commenti, ideale per praticare con dati realistici.</a:t>
            </a:r>
          </a:p>
          <a:p>
            <a:endParaRPr lang="it-IT" dirty="0"/>
          </a:p>
        </p:txBody>
      </p:sp>
    </p:spTree>
    <p:extLst>
      <p:ext uri="{BB962C8B-B14F-4D97-AF65-F5344CB8AC3E}">
        <p14:creationId xmlns:p14="http://schemas.microsoft.com/office/powerpoint/2010/main" val="21644149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61B7E-B18D-CAA0-8AE5-AA7DC25C08E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D96D5C6-E1E0-661E-3F4E-6F40081ED5C2}"/>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DED53D4E-BE98-FEE7-3FB3-85CD8333DF0C}"/>
              </a:ext>
            </a:extLst>
          </p:cNvPr>
          <p:cNvSpPr>
            <a:spLocks noGrp="1"/>
          </p:cNvSpPr>
          <p:nvPr>
            <p:ph type="body" idx="1"/>
          </p:nvPr>
        </p:nvSpPr>
        <p:spPr/>
        <p:txBody>
          <a:bodyPr/>
          <a:lstStyle/>
          <a:p>
            <a:r>
              <a:rPr lang="it-IT" dirty="0"/>
              <a:t>Python offre un ecosistema incredibilmente ricco per lo sviluppo web, strutturato su diversi livelli di astrazione che permettono di scegliere il giusto compromesso tra controllo e semplicità. Al livello più basso troviamo la libreria standard </a:t>
            </a:r>
            <a:r>
              <a:rPr lang="it-IT" dirty="0" err="1"/>
              <a:t>http.server</a:t>
            </a:r>
            <a:r>
              <a:rPr lang="it-IT" dirty="0"/>
              <a:t>, che rappresenta il modo più diretto per capire cosa succede realmente quando un server web funziona. Utilizzare questo approccio è come imparare a guidare con il cambio manuale: richiede più attenzione e competenza, ma ti dà una comprensione profonda di ogni singolo ingranaggio del meccanismo.</a:t>
            </a:r>
          </a:p>
          <a:p>
            <a:r>
              <a:rPr lang="it-IT" dirty="0"/>
              <a:t>Salendo di livello, incontriamo </a:t>
            </a:r>
            <a:r>
              <a:rPr lang="it-IT" dirty="0" err="1"/>
              <a:t>Flask</a:t>
            </a:r>
            <a:r>
              <a:rPr lang="it-IT" dirty="0"/>
              <a:t>, il framework che ha rivoluzionato lo sviluppo web Python con la sua filosofia minimalista. </a:t>
            </a:r>
            <a:r>
              <a:rPr lang="it-IT" dirty="0" err="1"/>
              <a:t>Flask</a:t>
            </a:r>
            <a:r>
              <a:rPr lang="it-IT" dirty="0"/>
              <a:t> segue il principio che meno è meglio: ti fornisce gli strumenti essenziali per costruire un'applicazione web senza imporre scelte architetturali rigide. È come avere una cassetta degli attrezzi perfettamente organizzata, dove ogni strumento ha uno scopo preciso e puoi combinare gli elementi come preferisci per costruire esattamente quello che hai in mente.</a:t>
            </a:r>
          </a:p>
          <a:p>
            <a:r>
              <a:rPr lang="it-IT" dirty="0"/>
              <a:t>All'estremo opposto dello spettro troviamo Django, il framework che abbraccia la filosofia "</a:t>
            </a:r>
            <a:r>
              <a:rPr lang="it-IT" dirty="0" err="1"/>
              <a:t>batteries</a:t>
            </a:r>
            <a:r>
              <a:rPr lang="it-IT" dirty="0"/>
              <a:t> </a:t>
            </a:r>
            <a:r>
              <a:rPr lang="it-IT" dirty="0" err="1"/>
              <a:t>included</a:t>
            </a:r>
            <a:r>
              <a:rPr lang="it-IT" dirty="0"/>
              <a:t>". Django è come comprare una casa già completamente arredata: tutto quello di cui hai bisogno è già lì, dall'ORM per gestire il database al sistema di autenticazione, dal pannello di amministrazione ai meccanismi di sicurezza. Questo approccio accelera enormemente lo sviluppo di applicazioni complesse, ma richiede di adattarsi alle convenzioni del framework.</a:t>
            </a:r>
          </a:p>
          <a:p>
            <a:r>
              <a:rPr lang="it-IT" dirty="0"/>
              <a:t>Infine, </a:t>
            </a:r>
            <a:r>
              <a:rPr lang="it-IT" dirty="0" err="1"/>
              <a:t>FastAPI</a:t>
            </a:r>
            <a:r>
              <a:rPr lang="it-IT" dirty="0"/>
              <a:t> rappresenta l'evoluzione moderna dell'ecosistema Python web, combinando le performance elevate dell'architettura asincrona con un'esperienza di sviluppo eccezionale. </a:t>
            </a:r>
            <a:r>
              <a:rPr lang="it-IT" dirty="0" err="1"/>
              <a:t>FastAPI</a:t>
            </a:r>
            <a:r>
              <a:rPr lang="it-IT" dirty="0"/>
              <a:t> è come guidare un'auto elettrica di ultima generazione: silenzioso, efficiente, ricco di tecnologie avanzate, ma sempre intuitivo da utilizzare.</a:t>
            </a:r>
          </a:p>
          <a:p>
            <a:endParaRPr lang="it-IT" dirty="0"/>
          </a:p>
        </p:txBody>
      </p:sp>
    </p:spTree>
    <p:extLst>
      <p:ext uri="{BB962C8B-B14F-4D97-AF65-F5344CB8AC3E}">
        <p14:creationId xmlns:p14="http://schemas.microsoft.com/office/powerpoint/2010/main" val="2103583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3D4E2-A64E-FA6D-A1AF-8E62A925486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007D2DC-3056-C788-6460-3A011A21372D}"/>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ECCB0A66-CCFB-35A1-E9DF-7FD5113816F4}"/>
              </a:ext>
            </a:extLst>
          </p:cNvPr>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27594769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A402-17C9-BCEA-A741-933F97C5568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34C53B2-3CC8-A8D5-D6E6-494170757DAD}"/>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26CC51EE-8B1C-7203-8BAD-BE848FFCB8AA}"/>
              </a:ext>
            </a:extLst>
          </p:cNvPr>
          <p:cNvSpPr>
            <a:spLocks noGrp="1"/>
          </p:cNvSpPr>
          <p:nvPr>
            <p:ph type="body" idx="1"/>
          </p:nvPr>
        </p:nvSpPr>
        <p:spPr/>
        <p:txBody>
          <a:bodyPr/>
          <a:lstStyle/>
          <a:p>
            <a:r>
              <a:rPr lang="it-IT" dirty="0"/>
              <a:t>Per comprendere veramente l'architettura dei web server Python, dobbiamo analizzare le due tecnologie fondamentali che definiscono come un'applicazione Python comunica con il web server: WSGI e ASGI. Queste sigle rappresentano molto più di semplici standard tecnici; incarnano due filosofie completamente diverse di gestire le richieste web.</a:t>
            </a:r>
          </a:p>
          <a:p>
            <a:r>
              <a:rPr lang="it-IT" dirty="0"/>
              <a:t>WSGI, acronimo di Web Server Gateway Interface, è nato nel 2003 e per quasi due decenni è stato il pilastro dell'architettura web Python. WSGI funziona secondo un modello sincrono molto intuitivo: quando arriva una richiesta, il server assegna un </a:t>
            </a:r>
            <a:r>
              <a:rPr lang="it-IT" dirty="0" err="1"/>
              <a:t>thread</a:t>
            </a:r>
            <a:r>
              <a:rPr lang="it-IT" dirty="0"/>
              <a:t> o un processo dedicato che si occupa esclusivamente di quella richiesta dall'inizio alla fine. È come avere un team di camerieri in un ristorante, dove ogni cameriere segue un tavolo dalla prenotazione al conto finale. Questo approccio è semplice da capire, debuggare e implementare, ed è perfettamente adeguato per la stragrande maggioranza delle applicazioni web tradizionali.</a:t>
            </a:r>
          </a:p>
          <a:p>
            <a:r>
              <a:rPr lang="it-IT" dirty="0"/>
              <a:t>ASGI, l'</a:t>
            </a:r>
            <a:r>
              <a:rPr lang="it-IT" dirty="0" err="1"/>
              <a:t>Asynchronous</a:t>
            </a:r>
            <a:r>
              <a:rPr lang="it-IT" dirty="0"/>
              <a:t> Server Gateway Interface, rappresenta invece l'evoluzione moderna nata per rispondere alle esigenze del web contemporaneo. Introdotto nel 2016, ASGI permette di gestire migliaia di connessioni simultanee utilizzando un modello asincrono basato su eventi. È come trasformare il nostro ristorante in un moderno fast-casual dove i camerieri non seguono un singolo tavolo, ma si occupano fluidamente di tutte le attività in corso, ottimizzando continuamente il flusso di lavoro. Questo approccio è fondamentale per applicazioni che richiedono comunicazione real-time, come chat, notifiche </a:t>
            </a:r>
            <a:r>
              <a:rPr lang="it-IT" dirty="0" err="1"/>
              <a:t>push</a:t>
            </a:r>
            <a:r>
              <a:rPr lang="it-IT" dirty="0"/>
              <a:t>, streaming di dati, o API ad altissimo traffico.</a:t>
            </a:r>
          </a:p>
          <a:p>
            <a:r>
              <a:rPr lang="it-IT" dirty="0"/>
              <a:t>La differenza pratica è sostanziale: mentre un server WSGI tipico può gestire efficacemente centinaia di richieste </a:t>
            </a:r>
            <a:r>
              <a:rPr lang="it-IT" dirty="0" err="1"/>
              <a:t>concurrent</a:t>
            </a:r>
            <a:r>
              <a:rPr lang="it-IT" dirty="0"/>
              <a:t>, un server ASGI ben ottimizzato può facilmente superare le decine di migliaia di connessioni simultanee utilizzando le stesse risorse hardware.</a:t>
            </a:r>
          </a:p>
          <a:p>
            <a:endParaRPr lang="it-IT" dirty="0"/>
          </a:p>
        </p:txBody>
      </p:sp>
    </p:spTree>
    <p:extLst>
      <p:ext uri="{BB962C8B-B14F-4D97-AF65-F5344CB8AC3E}">
        <p14:creationId xmlns:p14="http://schemas.microsoft.com/office/powerpoint/2010/main" val="21118386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DB300-E71F-2390-DC08-7EF13B7DF39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85DDED9-4338-58B6-61BD-13C9BB68BD09}"/>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31B2FF31-3DED-6CEF-513B-9475573529EF}"/>
              </a:ext>
            </a:extLst>
          </p:cNvPr>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22164091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E3644-2B0A-6AFE-C994-60136DC39F1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6B49FDD-27E8-327C-C220-1D6DBC185AA7}"/>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A929B56E-AE01-AB91-6572-1D22D6F2D69A}"/>
              </a:ext>
            </a:extLst>
          </p:cNvPr>
          <p:cNvSpPr>
            <a:spLocks noGrp="1"/>
          </p:cNvSpPr>
          <p:nvPr>
            <p:ph type="body" idx="1"/>
          </p:nvPr>
        </p:nvSpPr>
        <p:spPr/>
        <p:txBody>
          <a:bodyPr/>
          <a:lstStyle/>
          <a:p>
            <a:r>
              <a:rPr lang="it-IT" dirty="0" err="1"/>
              <a:t>Flask</a:t>
            </a:r>
            <a:r>
              <a:rPr lang="it-IT" dirty="0"/>
              <a:t> rappresenta una delle storie di successo più interessanti nell'ecosistema Python. Creato da Armin </a:t>
            </a:r>
            <a:r>
              <a:rPr lang="it-IT" dirty="0" err="1"/>
              <a:t>Ronacher</a:t>
            </a:r>
            <a:r>
              <a:rPr lang="it-IT" dirty="0"/>
              <a:t> come un progetto nato quasi per scherzo il primo aprile del 2010, </a:t>
            </a:r>
            <a:r>
              <a:rPr lang="it-IT" dirty="0" err="1"/>
              <a:t>Flask</a:t>
            </a:r>
            <a:r>
              <a:rPr lang="it-IT" dirty="0"/>
              <a:t> è diventato rapidamente uno dei framework web più amati e utilizzati al mondo. La sua filosofia si basa su un principio fondamentale: fornire gli strumenti essenziali per costruire applicazioni web senza imporre scelte architetturali rigide, lasciando agli sviluppatori la libertà di strutturare il loro codice come meglio credono.</a:t>
            </a:r>
          </a:p>
          <a:p>
            <a:r>
              <a:rPr lang="it-IT" dirty="0"/>
              <a:t>Quello che rende </a:t>
            </a:r>
            <a:r>
              <a:rPr lang="it-IT" dirty="0" err="1"/>
              <a:t>Flask</a:t>
            </a:r>
            <a:r>
              <a:rPr lang="it-IT" dirty="0"/>
              <a:t> speciale è la sua curva di apprendimento incredibilmente dolce. Un principiante può creare la sua prima applicazione web funzionante in letteralmente cinque righe di codice, mentre uno sviluppatore esperto può sfruttare la flessibilità del framework per costruire architetture complesse e sofisticate. </a:t>
            </a:r>
            <a:r>
              <a:rPr lang="it-IT" dirty="0" err="1"/>
              <a:t>Flask</a:t>
            </a:r>
            <a:r>
              <a:rPr lang="it-IT" dirty="0"/>
              <a:t> non ti dice come organizzare il tuo database, non impone una struttura particolare ai tuoi file, non forza l'utilizzo di specifiche librerie per l'autenticazione o la gestione delle sessioni.</a:t>
            </a:r>
          </a:p>
          <a:p>
            <a:r>
              <a:rPr lang="it-IT" dirty="0"/>
              <a:t>Questa flessibilità è particolarmente preziosa quando si sviluppano API REST, dove spesso le esigenze sono molto specifiche e personalizzate. </a:t>
            </a:r>
            <a:r>
              <a:rPr lang="it-IT" dirty="0" err="1"/>
              <a:t>Flask</a:t>
            </a:r>
            <a:r>
              <a:rPr lang="it-IT" dirty="0"/>
              <a:t> eccelle in questo ambito perché permette di costruire endpoint precisi e ottimizzati senza il peso di funzionalità non necessarie. L'ecosistema di estensioni </a:t>
            </a:r>
            <a:r>
              <a:rPr lang="it-IT" dirty="0" err="1"/>
              <a:t>Flask</a:t>
            </a:r>
            <a:r>
              <a:rPr lang="it-IT" dirty="0"/>
              <a:t> è inoltre straordinariamente ricco: </a:t>
            </a:r>
            <a:r>
              <a:rPr lang="it-IT" dirty="0" err="1"/>
              <a:t>Flask-SQLAlchemy</a:t>
            </a:r>
            <a:r>
              <a:rPr lang="it-IT" dirty="0"/>
              <a:t> per l'ORM, </a:t>
            </a:r>
            <a:r>
              <a:rPr lang="it-IT" dirty="0" err="1"/>
              <a:t>Flask</a:t>
            </a:r>
            <a:r>
              <a:rPr lang="it-IT" dirty="0"/>
              <a:t>-Login per l'autenticazione, </a:t>
            </a:r>
            <a:r>
              <a:rPr lang="it-IT" dirty="0" err="1"/>
              <a:t>Flask</a:t>
            </a:r>
            <a:r>
              <a:rPr lang="it-IT" dirty="0"/>
              <a:t>-Mail per l'invio di email, </a:t>
            </a:r>
            <a:r>
              <a:rPr lang="it-IT" dirty="0" err="1"/>
              <a:t>Flask</a:t>
            </a:r>
            <a:r>
              <a:rPr lang="it-IT" dirty="0"/>
              <a:t>-Admin per pannelli amministrativi. Ogni estensione segue la stessa filosofia del core: potente ma non invasiva.</a:t>
            </a:r>
          </a:p>
          <a:p>
            <a:r>
              <a:rPr lang="it-IT" dirty="0"/>
              <a:t>Il vero punto di forza di </a:t>
            </a:r>
            <a:r>
              <a:rPr lang="it-IT" dirty="0" err="1"/>
              <a:t>Flask</a:t>
            </a:r>
            <a:r>
              <a:rPr lang="it-IT" dirty="0"/>
              <a:t> emerge nella prototipazione rapida e nello sviluppo iterativo. Quando hai un'idea per un'applicazione web e vuoi validarla rapidamente, </a:t>
            </a:r>
            <a:r>
              <a:rPr lang="it-IT" dirty="0" err="1"/>
              <a:t>Flask</a:t>
            </a:r>
            <a:r>
              <a:rPr lang="it-IT" dirty="0"/>
              <a:t> ti permette di concentrarti sulla logica di business senza perderti in configurazioni complesse o strutture imposte dal framework.</a:t>
            </a:r>
          </a:p>
          <a:p>
            <a:endParaRPr lang="it-IT" dirty="0"/>
          </a:p>
        </p:txBody>
      </p:sp>
    </p:spTree>
    <p:extLst>
      <p:ext uri="{BB962C8B-B14F-4D97-AF65-F5344CB8AC3E}">
        <p14:creationId xmlns:p14="http://schemas.microsoft.com/office/powerpoint/2010/main" val="3678531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DE351-4162-1610-060C-158E8575C39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41D6C6A-783A-99BB-A375-2BBBF2DFD006}"/>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BCEFA598-2BCE-B525-BED9-D22FC2852A15}"/>
              </a:ext>
            </a:extLst>
          </p:cNvPr>
          <p:cNvSpPr>
            <a:spLocks noGrp="1"/>
          </p:cNvSpPr>
          <p:nvPr>
            <p:ph type="body" idx="1"/>
          </p:nvPr>
        </p:nvSpPr>
        <p:spPr/>
        <p:txBody>
          <a:bodyPr/>
          <a:lstStyle/>
          <a:p>
            <a:r>
              <a:rPr lang="it-IT" dirty="0"/>
              <a:t>Django nasce da un'esigenza molto concreta: i giornalisti del Lawrence Journal-World avevano bisogno di pubblicare notizie online velocemente e con strumenti professionali. Da questa necessità pratica è nato quello che oggi è considerato il framework web Python più completo e maturo. Django abbraccia una filosofia completamente diversa da </a:t>
            </a:r>
            <a:r>
              <a:rPr lang="it-IT" dirty="0" err="1"/>
              <a:t>Flask</a:t>
            </a:r>
            <a:r>
              <a:rPr lang="it-IT" dirty="0"/>
              <a:t>: invece di partire dal minimo indispensabile, Django include sin dal primo momento tutto quello che potrebbe servire per costruire un'applicazione web professionale.</a:t>
            </a:r>
          </a:p>
          <a:p>
            <a:r>
              <a:rPr lang="it-IT" dirty="0"/>
              <a:t>Il principio guida di Django è "</a:t>
            </a:r>
            <a:r>
              <a:rPr lang="it-IT" dirty="0" err="1"/>
              <a:t>Don't</a:t>
            </a:r>
            <a:r>
              <a:rPr lang="it-IT" dirty="0"/>
              <a:t> </a:t>
            </a:r>
            <a:r>
              <a:rPr lang="it-IT" dirty="0" err="1"/>
              <a:t>Repeat</a:t>
            </a:r>
            <a:r>
              <a:rPr lang="it-IT" dirty="0"/>
              <a:t> </a:t>
            </a:r>
            <a:r>
              <a:rPr lang="it-IT" dirty="0" err="1"/>
              <a:t>Yourself</a:t>
            </a:r>
            <a:r>
              <a:rPr lang="it-IT" dirty="0"/>
              <a:t>", che significa che ogni pezzo di logica dovrebbe esistere una sola volta nel sistema. Questo si traduce in un framework dove l'ORM, il sistema di template, la gestione delle migrazioni del database, l'autenticazione, l'autorizzazione, la protezione dai principali attacchi web e persino un pannello di amministrazione completo sono tutti integrati nativamente e progettati per lavorare insieme in armonia perfetta.</a:t>
            </a:r>
          </a:p>
          <a:p>
            <a:r>
              <a:rPr lang="it-IT" dirty="0"/>
              <a:t>Una delle caratteristiche più impressionanti di Django è il suo pannello di amministrazione automatico. Con poche righe di configurazione, Django genera un'interfaccia web completa per gestire tutti i dati della tua applicazione. Questo pannello non è un semplice CRUD basico, ma un sistema sofisticato con ricerca avanzata, filtri, paginazione, gestione delle relazioni complesse, e un sistema di permessi granulare. Per molte applicazioni, questo pannello rappresenta da solo un risparmio di settimane di sviluppo.</a:t>
            </a:r>
          </a:p>
          <a:p>
            <a:r>
              <a:rPr lang="it-IT" dirty="0"/>
              <a:t>Django brilla particolarmente nello sviluppo di applicazioni web complete che richiedono sia un </a:t>
            </a:r>
            <a:r>
              <a:rPr lang="it-IT" dirty="0" err="1"/>
              <a:t>frontend</a:t>
            </a:r>
            <a:r>
              <a:rPr lang="it-IT" dirty="0"/>
              <a:t> che un </a:t>
            </a:r>
            <a:r>
              <a:rPr lang="it-IT" dirty="0" err="1"/>
              <a:t>backend</a:t>
            </a:r>
            <a:r>
              <a:rPr lang="it-IT" dirty="0"/>
              <a:t> robusto. Siti di e-commerce, piattaforme di contenuti, social network, applicazioni </a:t>
            </a:r>
            <a:r>
              <a:rPr lang="it-IT" dirty="0" err="1"/>
              <a:t>enterprise</a:t>
            </a:r>
            <a:r>
              <a:rPr lang="it-IT" dirty="0"/>
              <a:t>: tutti questi scenari beneficiano enormemente dell'approccio "</a:t>
            </a:r>
            <a:r>
              <a:rPr lang="it-IT" dirty="0" err="1"/>
              <a:t>batteries</a:t>
            </a:r>
            <a:r>
              <a:rPr lang="it-IT" dirty="0"/>
              <a:t> </a:t>
            </a:r>
            <a:r>
              <a:rPr lang="it-IT" dirty="0" err="1"/>
              <a:t>included</a:t>
            </a:r>
            <a:r>
              <a:rPr lang="it-IT" dirty="0"/>
              <a:t>" di Django. Il framework gestisce automaticamente molti aspetti cruciali della sicurezza web, dalla protezione CSRF alle validazioni anti-XSS, dal controllo delle SQL injection alla gestione sicura delle password.</a:t>
            </a:r>
          </a:p>
          <a:p>
            <a:endParaRPr lang="it-IT" dirty="0"/>
          </a:p>
        </p:txBody>
      </p:sp>
    </p:spTree>
    <p:extLst>
      <p:ext uri="{BB962C8B-B14F-4D97-AF65-F5344CB8AC3E}">
        <p14:creationId xmlns:p14="http://schemas.microsoft.com/office/powerpoint/2010/main" val="2608003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3097-CBB9-74D2-629E-C3A31418F44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D974EB0-67B3-ED84-E37C-F94B2B90C771}"/>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75C91568-8C19-EF3B-9AC1-4A60CB6641E7}"/>
              </a:ext>
            </a:extLst>
          </p:cNvPr>
          <p:cNvSpPr>
            <a:spLocks noGrp="1"/>
          </p:cNvSpPr>
          <p:nvPr>
            <p:ph type="body" idx="1"/>
          </p:nvPr>
        </p:nvSpPr>
        <p:spPr/>
        <p:txBody>
          <a:bodyPr/>
          <a:lstStyle/>
          <a:p>
            <a:r>
              <a:rPr lang="it-IT" dirty="0" err="1"/>
              <a:t>FastAPI</a:t>
            </a:r>
            <a:r>
              <a:rPr lang="it-IT" dirty="0"/>
              <a:t> rappresenta l'evoluzione più recente e promettente dell'ecosistema web Python. Creato da Sebastián Ramirez, </a:t>
            </a:r>
            <a:r>
              <a:rPr lang="it-IT" dirty="0" err="1"/>
              <a:t>FastAPI</a:t>
            </a:r>
            <a:r>
              <a:rPr lang="it-IT" dirty="0"/>
              <a:t> nasce dall'ambizione di combinare la semplicità di sviluppo tipica di Python con performance che possano competere con framework scritti in linguaggi compilati come Go o Rust. Il risultato è un framework che riesce a raggiungere performance superiori a </a:t>
            </a:r>
            <a:r>
              <a:rPr lang="it-IT" dirty="0" err="1"/>
              <a:t>Node.js</a:t>
            </a:r>
            <a:r>
              <a:rPr lang="it-IT" dirty="0"/>
              <a:t> mantenendo la produttività e l'eleganza del codice Python.</a:t>
            </a:r>
          </a:p>
          <a:p>
            <a:r>
              <a:rPr lang="it-IT" dirty="0"/>
              <a:t>Una delle innovazioni più significative di </a:t>
            </a:r>
            <a:r>
              <a:rPr lang="it-IT" dirty="0" err="1"/>
              <a:t>FastAPI</a:t>
            </a:r>
            <a:r>
              <a:rPr lang="it-IT" dirty="0"/>
              <a:t> è l'utilizzo intensivo dei </a:t>
            </a:r>
            <a:r>
              <a:rPr lang="it-IT" dirty="0" err="1"/>
              <a:t>type</a:t>
            </a:r>
            <a:r>
              <a:rPr lang="it-IT" dirty="0"/>
              <a:t> </a:t>
            </a:r>
            <a:r>
              <a:rPr lang="it-IT" dirty="0" err="1"/>
              <a:t>hints</a:t>
            </a:r>
            <a:r>
              <a:rPr lang="it-IT" dirty="0"/>
              <a:t> di Python per generare automaticamente validazione dei dati, serializzazione, documentazione API e persino client SDK. Quando definisci un endpoint </a:t>
            </a:r>
            <a:r>
              <a:rPr lang="it-IT" dirty="0" err="1"/>
              <a:t>FastAPI</a:t>
            </a:r>
            <a:r>
              <a:rPr lang="it-IT" dirty="0"/>
              <a:t> specificando i tipi dei parametri, il framework genera automaticamente una documentazione </a:t>
            </a:r>
            <a:r>
              <a:rPr lang="it-IT" dirty="0" err="1"/>
              <a:t>OpenAPI</a:t>
            </a:r>
            <a:r>
              <a:rPr lang="it-IT" dirty="0"/>
              <a:t> completa, accessibile tramite un'interfaccia </a:t>
            </a:r>
            <a:r>
              <a:rPr lang="it-IT" dirty="0" err="1"/>
              <a:t>Swagger</a:t>
            </a:r>
            <a:r>
              <a:rPr lang="it-IT" dirty="0"/>
              <a:t> UI interattiva. Questo significa che la tua API è sempre documentata, sempre aggiornata, e sempre testabile direttamente dal browser.</a:t>
            </a:r>
          </a:p>
          <a:p>
            <a:r>
              <a:rPr lang="it-IT" dirty="0"/>
              <a:t>Le performance di </a:t>
            </a:r>
            <a:r>
              <a:rPr lang="it-IT" dirty="0" err="1"/>
              <a:t>FastAPI</a:t>
            </a:r>
            <a:r>
              <a:rPr lang="it-IT" dirty="0"/>
              <a:t> sono rese possibili dalla sua architettura completamente asincrona basata su Starlette e </a:t>
            </a:r>
            <a:r>
              <a:rPr lang="it-IT" dirty="0" err="1"/>
              <a:t>Pydantic</a:t>
            </a:r>
            <a:r>
              <a:rPr lang="it-IT" dirty="0"/>
              <a:t>. Mentre un'applicazione </a:t>
            </a:r>
            <a:r>
              <a:rPr lang="it-IT" dirty="0" err="1"/>
              <a:t>Flask</a:t>
            </a:r>
            <a:r>
              <a:rPr lang="it-IT" dirty="0"/>
              <a:t> o Django tradizionale gestisce una richiesta alla volta per </a:t>
            </a:r>
            <a:r>
              <a:rPr lang="it-IT" dirty="0" err="1"/>
              <a:t>thread</a:t>
            </a:r>
            <a:r>
              <a:rPr lang="it-IT" dirty="0"/>
              <a:t>, </a:t>
            </a:r>
            <a:r>
              <a:rPr lang="it-IT" dirty="0" err="1"/>
              <a:t>FastAPI</a:t>
            </a:r>
            <a:r>
              <a:rPr lang="it-IT" dirty="0"/>
              <a:t> può gestire migliaia di richieste simultanee utilizzando un singolo </a:t>
            </a:r>
            <a:r>
              <a:rPr lang="it-IT" dirty="0" err="1"/>
              <a:t>thread</a:t>
            </a:r>
            <a:r>
              <a:rPr lang="it-IT" dirty="0"/>
              <a:t> e un event loop. Questo approccio è particolarmente efficace per API che fanno molte chiamate a servizi esterni, database, o che gestiscono operazioni I/O intensive.</a:t>
            </a:r>
          </a:p>
          <a:p>
            <a:r>
              <a:rPr lang="it-IT" dirty="0" err="1"/>
              <a:t>FastAPI</a:t>
            </a:r>
            <a:r>
              <a:rPr lang="it-IT" dirty="0"/>
              <a:t> supporta nativamente </a:t>
            </a:r>
            <a:r>
              <a:rPr lang="it-IT" dirty="0" err="1"/>
              <a:t>WebSocket</a:t>
            </a:r>
            <a:r>
              <a:rPr lang="it-IT" dirty="0"/>
              <a:t>, HTTP/2, e tutti i moderni standard web, rendendolo ideale per applicazioni real-time e microservizi. La compatibilità con i </a:t>
            </a:r>
            <a:r>
              <a:rPr lang="it-IT" dirty="0" err="1"/>
              <a:t>type</a:t>
            </a:r>
            <a:r>
              <a:rPr lang="it-IT" dirty="0"/>
              <a:t> </a:t>
            </a:r>
            <a:r>
              <a:rPr lang="it-IT" dirty="0" err="1"/>
              <a:t>hints</a:t>
            </a:r>
            <a:r>
              <a:rPr lang="it-IT" dirty="0"/>
              <a:t> moderni di Python significa anche che il tuo IDE può fornire </a:t>
            </a:r>
            <a:r>
              <a:rPr lang="it-IT" dirty="0" err="1"/>
              <a:t>autocompletamento</a:t>
            </a:r>
            <a:r>
              <a:rPr lang="it-IT" dirty="0"/>
              <a:t> accurato e controllo degli errori durante lo sviluppo, riducendo significativamente i bug in produzione.</a:t>
            </a:r>
          </a:p>
          <a:p>
            <a:endParaRPr lang="it-IT" dirty="0"/>
          </a:p>
        </p:txBody>
      </p:sp>
    </p:spTree>
    <p:extLst>
      <p:ext uri="{BB962C8B-B14F-4D97-AF65-F5344CB8AC3E}">
        <p14:creationId xmlns:p14="http://schemas.microsoft.com/office/powerpoint/2010/main" val="20766056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624AA-FA2D-FF08-D23F-0B0A67043B9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F6FCE4F-B58C-9C74-4B16-B20C5EAE6523}"/>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4202A902-7630-5231-0D31-92A2005EACF7}"/>
              </a:ext>
            </a:extLst>
          </p:cNvPr>
          <p:cNvSpPr>
            <a:spLocks noGrp="1"/>
          </p:cNvSpPr>
          <p:nvPr>
            <p:ph type="body" idx="1"/>
          </p:nvPr>
        </p:nvSpPr>
        <p:spPr/>
        <p:txBody>
          <a:bodyPr/>
          <a:lstStyle/>
          <a:p>
            <a:r>
              <a:rPr lang="it-IT" dirty="0"/>
              <a:t>I numeri di performance che abbiamo mostrato rappresentano benchmark approssimativi che dipendono enormemente dal tipo di applicazione, dalla complessità della business </a:t>
            </a:r>
            <a:r>
              <a:rPr lang="it-IT" dirty="0" err="1"/>
              <a:t>logic</a:t>
            </a:r>
            <a:r>
              <a:rPr lang="it-IT" dirty="0"/>
              <a:t>, e dall'infrastruttura sottostante. Un'applicazione </a:t>
            </a:r>
            <a:r>
              <a:rPr lang="it-IT" dirty="0" err="1"/>
              <a:t>Flask</a:t>
            </a:r>
            <a:r>
              <a:rPr lang="it-IT" dirty="0"/>
              <a:t> che esegue query complesse su un database avrà performance molto diverse da una che serve contenuti statici da cache. Tuttavia, questi numeri ci danno un'idea delle capacità relative dei diversi approcci.</a:t>
            </a:r>
          </a:p>
          <a:p>
            <a:r>
              <a:rPr lang="it-IT" dirty="0"/>
              <a:t>Il server </a:t>
            </a:r>
            <a:r>
              <a:rPr lang="it-IT" dirty="0" err="1"/>
              <a:t>http.server</a:t>
            </a:r>
            <a:r>
              <a:rPr lang="it-IT" dirty="0"/>
              <a:t> di Python, essendo single-</a:t>
            </a:r>
            <a:r>
              <a:rPr lang="it-IT" dirty="0" err="1"/>
              <a:t>threaded</a:t>
            </a:r>
            <a:r>
              <a:rPr lang="it-IT" dirty="0"/>
              <a:t> e non ottimizzato, rappresenta la baseline più bassa. È importante comprendere che le sue limitazioni non sono dovute a inefficienze del codice, ma alle scelte architetturali: è progettato per semplicità e facilità di debugging, non per performance. </a:t>
            </a:r>
            <a:r>
              <a:rPr lang="it-IT" dirty="0" err="1"/>
              <a:t>Flask</a:t>
            </a:r>
            <a:r>
              <a:rPr lang="it-IT" dirty="0"/>
              <a:t> con </a:t>
            </a:r>
            <a:r>
              <a:rPr lang="it-IT" dirty="0" err="1"/>
              <a:t>Gunicorn</a:t>
            </a:r>
            <a:r>
              <a:rPr lang="it-IT" dirty="0"/>
              <a:t> rappresenta un salto quantico in termini di capacità, grazie alla gestione multi-</a:t>
            </a:r>
            <a:r>
              <a:rPr lang="it-IT" dirty="0" err="1"/>
              <a:t>process</a:t>
            </a:r>
            <a:r>
              <a:rPr lang="it-IT" dirty="0"/>
              <a:t> e alle ottimizzazioni di </a:t>
            </a:r>
            <a:r>
              <a:rPr lang="it-IT" dirty="0" err="1"/>
              <a:t>Gunicorn</a:t>
            </a:r>
            <a:r>
              <a:rPr lang="it-IT" dirty="0"/>
              <a:t>.</a:t>
            </a:r>
          </a:p>
          <a:p>
            <a:r>
              <a:rPr lang="it-IT" dirty="0"/>
              <a:t>Django, pur essendo un framework completo, tende ad avere performance leggermente inferiori a </a:t>
            </a:r>
            <a:r>
              <a:rPr lang="it-IT" dirty="0" err="1"/>
              <a:t>Flask</a:t>
            </a:r>
            <a:r>
              <a:rPr lang="it-IT" dirty="0"/>
              <a:t> per API semplici a causa del maggior overhead delle sue funzionalità integrate. Tuttavia, per applicazioni complesse, Django può risultare più efficiente grazie alle sue ottimizzazioni </a:t>
            </a:r>
            <a:r>
              <a:rPr lang="it-IT" dirty="0" err="1"/>
              <a:t>built</a:t>
            </a:r>
            <a:r>
              <a:rPr lang="it-IT" dirty="0"/>
              <a:t>-in come il query caching dell'ORM e la gestione intelligente delle connessioni al database.</a:t>
            </a:r>
          </a:p>
          <a:p>
            <a:r>
              <a:rPr lang="it-IT" dirty="0" err="1"/>
              <a:t>FastAPI</a:t>
            </a:r>
            <a:r>
              <a:rPr lang="it-IT" dirty="0"/>
              <a:t> con </a:t>
            </a:r>
            <a:r>
              <a:rPr lang="it-IT" dirty="0" err="1"/>
              <a:t>Uvicorn</a:t>
            </a:r>
            <a:r>
              <a:rPr lang="it-IT" dirty="0"/>
              <a:t> rappresenta l'apice delle performance Python moderne, raggiungendo numeri che competono con framework scritti in linguaggi compilati. Questo è possibile grazie all'architettura asincrona che elimina il </a:t>
            </a:r>
            <a:r>
              <a:rPr lang="it-IT" dirty="0" err="1"/>
              <a:t>blocking</a:t>
            </a:r>
            <a:r>
              <a:rPr lang="it-IT" dirty="0"/>
              <a:t> I/O e permette di utilizzare completamente le risorse hardware disponibili. Tuttavia, è fondamentale ricordare che le performance </a:t>
            </a:r>
            <a:r>
              <a:rPr lang="it-IT" dirty="0" err="1"/>
              <a:t>raw</a:t>
            </a:r>
            <a:r>
              <a:rPr lang="it-IT" dirty="0"/>
              <a:t> raramente sono il fattore limitante di un'applicazione web: il database, le chiamate a servizi esterni, e la logica di business sono solitamente i veri colli di bottiglia.</a:t>
            </a:r>
          </a:p>
          <a:p>
            <a:r>
              <a:rPr lang="it-IT" b="1" dirty="0"/>
              <a:t>Slide 16: La Scelta del Framework Giusto</a:t>
            </a:r>
          </a:p>
          <a:p>
            <a:r>
              <a:rPr lang="it-IT" dirty="0"/>
              <a:t>La scelta del framework web giusto è una decisione strategica che influenzerà l'intero ciclo di vita del progetto. </a:t>
            </a:r>
            <a:r>
              <a:rPr lang="it-IT" dirty="0" err="1"/>
              <a:t>Flask</a:t>
            </a:r>
            <a:r>
              <a:rPr lang="it-IT" dirty="0"/>
              <a:t> si rivela la scelta ideale quando si privilegia la flessibilità e il controllo granulare sull'architettura. È particolarmente adatto per team di sviluppatori esperti che vogliono costruire soluzioni custom, per API con requisiti specifici che non si adattano bene a pattern predefiniti, o per progetti dove la semplicità e la leggibilità del codice sono priorità assolute.</a:t>
            </a:r>
          </a:p>
          <a:p>
            <a:r>
              <a:rPr lang="it-IT" dirty="0" err="1"/>
              <a:t>Flask</a:t>
            </a:r>
            <a:r>
              <a:rPr lang="it-IT" dirty="0"/>
              <a:t> eccelle anche nella prototipazione rapida e nello sviluppo iterativo. Quando si deve validare rapidamente un'idea o costruire un MVP (Minimum </a:t>
            </a:r>
            <a:r>
              <a:rPr lang="it-IT" dirty="0" err="1"/>
              <a:t>Viable</a:t>
            </a:r>
            <a:r>
              <a:rPr lang="it-IT" dirty="0"/>
              <a:t> Product), la capacità di </a:t>
            </a:r>
            <a:r>
              <a:rPr lang="it-IT" dirty="0" err="1"/>
              <a:t>Flask</a:t>
            </a:r>
            <a:r>
              <a:rPr lang="it-IT" dirty="0"/>
              <a:t> di far funzionare qualcosa con pochissimo codice è inestimabile. Inoltre, la vasta disponibilità di estensioni </a:t>
            </a:r>
            <a:r>
              <a:rPr lang="it-IT" dirty="0" err="1"/>
              <a:t>Flask</a:t>
            </a:r>
            <a:r>
              <a:rPr lang="it-IT" dirty="0"/>
              <a:t> permette di aggiungere funzionalità incrementalmente, crescendo con le esigenze del progetto.</a:t>
            </a:r>
          </a:p>
          <a:p>
            <a:r>
              <a:rPr lang="it-IT" dirty="0"/>
              <a:t>Django diventa la scelta naturale quando si costruiscono applicazioni web complete che richiedono funzionalità </a:t>
            </a:r>
            <a:r>
              <a:rPr lang="it-IT" dirty="0" err="1"/>
              <a:t>enterprise</a:t>
            </a:r>
            <a:r>
              <a:rPr lang="it-IT" dirty="0"/>
              <a:t> standard. Il pannello di amministrazione automatico da solo può giustificare la scelta di Django per progetti che richiedono interfacce di gestione dei dati. Django è anche ideale per team grandi o distribuiti, dove le convenzioni rigide del framework facilitano la collaborazione e riducono i tempi di </a:t>
            </a:r>
            <a:r>
              <a:rPr lang="it-IT" dirty="0" err="1"/>
              <a:t>onboarding</a:t>
            </a:r>
            <a:r>
              <a:rPr lang="it-IT" dirty="0"/>
              <a:t> di nuovi sviluppatori.</a:t>
            </a:r>
          </a:p>
          <a:p>
            <a:r>
              <a:rPr lang="it-IT" dirty="0" err="1"/>
              <a:t>FastAPI</a:t>
            </a:r>
            <a:r>
              <a:rPr lang="it-IT" dirty="0"/>
              <a:t> rappresenta la scelta moderna per API ad alta performance, microservizi, e applicazioni che richiedono documentazione automatica professionale. La validazione automatica dei dati basata sui </a:t>
            </a:r>
            <a:r>
              <a:rPr lang="it-IT" dirty="0" err="1"/>
              <a:t>type</a:t>
            </a:r>
            <a:r>
              <a:rPr lang="it-IT" dirty="0"/>
              <a:t> </a:t>
            </a:r>
            <a:r>
              <a:rPr lang="it-IT" dirty="0" err="1"/>
              <a:t>hints</a:t>
            </a:r>
            <a:r>
              <a:rPr lang="it-IT" dirty="0"/>
              <a:t> riduce significativamente i bug in produzione, mentre le performance elevate lo rendono ideale per scenari high-</a:t>
            </a:r>
            <a:r>
              <a:rPr lang="it-IT" dirty="0" err="1"/>
              <a:t>traffic</a:t>
            </a:r>
            <a:r>
              <a:rPr lang="it-IT" dirty="0"/>
              <a:t>. </a:t>
            </a:r>
            <a:r>
              <a:rPr lang="it-IT" dirty="0" err="1"/>
              <a:t>FastAPI</a:t>
            </a:r>
            <a:r>
              <a:rPr lang="it-IT" dirty="0"/>
              <a:t> è anche la scelta preferita quando il team ha familiarità con programmazione asincrona e </a:t>
            </a:r>
            <a:r>
              <a:rPr lang="it-IT" dirty="0" err="1"/>
              <a:t>type</a:t>
            </a:r>
            <a:r>
              <a:rPr lang="it-IT" dirty="0"/>
              <a:t> </a:t>
            </a:r>
            <a:r>
              <a:rPr lang="it-IT" dirty="0" err="1"/>
              <a:t>hints</a:t>
            </a:r>
            <a:r>
              <a:rPr lang="it-IT" dirty="0"/>
              <a:t> moderne di Python.</a:t>
            </a:r>
          </a:p>
          <a:p>
            <a:r>
              <a:rPr lang="it-IT" b="1" dirty="0"/>
              <a:t>Slide 17: Verso il Futuro dello Sviluppo Web Python</a:t>
            </a:r>
          </a:p>
          <a:p>
            <a:r>
              <a:rPr lang="it-IT" dirty="0"/>
              <a:t>Il panorama dello sviluppo web Python sta evolvendo rapidamente, spinto dalle crescenti esigenze di performance, scalabilità, e developer </a:t>
            </a:r>
            <a:r>
              <a:rPr lang="it-IT" dirty="0" err="1"/>
              <a:t>experience</a:t>
            </a:r>
            <a:r>
              <a:rPr lang="it-IT" dirty="0"/>
              <a:t>. La programmazione asincrona, una volta considerata un argomento avanzato, sta diventando mainstream grazie alla maturazione dell'ecosistema </a:t>
            </a:r>
            <a:r>
              <a:rPr lang="it-IT" dirty="0" err="1"/>
              <a:t>asyncio</a:t>
            </a:r>
            <a:r>
              <a:rPr lang="it-IT" dirty="0"/>
              <a:t> e alla popolarità di framework come </a:t>
            </a:r>
            <a:r>
              <a:rPr lang="it-IT" dirty="0" err="1"/>
              <a:t>FastAPI</a:t>
            </a:r>
            <a:r>
              <a:rPr lang="it-IT" dirty="0"/>
              <a:t>. Questa transizione riflette le esigenze del web moderno, dove applicazioni real-time, streaming di dati, e comunicazione bidirezionale sono sempre più comuni.</a:t>
            </a:r>
          </a:p>
          <a:p>
            <a:r>
              <a:rPr lang="it-IT" dirty="0"/>
              <a:t>I </a:t>
            </a:r>
            <a:r>
              <a:rPr lang="it-IT" dirty="0" err="1"/>
              <a:t>type</a:t>
            </a:r>
            <a:r>
              <a:rPr lang="it-IT" dirty="0"/>
              <a:t> </a:t>
            </a:r>
            <a:r>
              <a:rPr lang="it-IT" dirty="0" err="1"/>
              <a:t>hints</a:t>
            </a:r>
            <a:r>
              <a:rPr lang="it-IT" dirty="0"/>
              <a:t> di Python, introdotti inizialmente come feature opzionale, stanno diventando uno standard de facto per codice professionale. Strumenti come </a:t>
            </a:r>
            <a:r>
              <a:rPr lang="it-IT" dirty="0" err="1"/>
              <a:t>MyPy</a:t>
            </a:r>
            <a:r>
              <a:rPr lang="it-IT" dirty="0"/>
              <a:t> per la </a:t>
            </a:r>
            <a:r>
              <a:rPr lang="it-IT" dirty="0" err="1"/>
              <a:t>type</a:t>
            </a:r>
            <a:r>
              <a:rPr lang="it-IT" dirty="0"/>
              <a:t> checking statica, </a:t>
            </a:r>
            <a:r>
              <a:rPr lang="it-IT" dirty="0" err="1"/>
              <a:t>Pydantic</a:t>
            </a:r>
            <a:r>
              <a:rPr lang="it-IT" dirty="0"/>
              <a:t> per la validazione </a:t>
            </a:r>
            <a:r>
              <a:rPr lang="it-IT" dirty="0" err="1"/>
              <a:t>runtime</a:t>
            </a:r>
            <a:r>
              <a:rPr lang="it-IT" dirty="0"/>
              <a:t>, e l'integrazione sempre più profonda con gli IDE stanno trasformando Python da linguaggio dinamico a linguaggio con tutti i benefici della tipizzazione forte quando necessaria. Questo trend è particolarmente evidente nello sviluppo di API, dove la correttezza dei tipi di dati è fondamentale.</a:t>
            </a:r>
          </a:p>
          <a:p>
            <a:r>
              <a:rPr lang="it-IT" dirty="0"/>
              <a:t>L'architettura a microservizi sta influenzando profondamente il design delle applicazioni Python. Framework come </a:t>
            </a:r>
            <a:r>
              <a:rPr lang="it-IT" dirty="0" err="1"/>
              <a:t>FastAPI</a:t>
            </a:r>
            <a:r>
              <a:rPr lang="it-IT" dirty="0"/>
              <a:t> sono ottimizzati per costruire servizi piccoli, </a:t>
            </a:r>
            <a:r>
              <a:rPr lang="it-IT" dirty="0" err="1"/>
              <a:t>focused</a:t>
            </a:r>
            <a:r>
              <a:rPr lang="it-IT" dirty="0"/>
              <a:t>, e altamente performanti che comunicano via HTTP o </a:t>
            </a:r>
            <a:r>
              <a:rPr lang="it-IT" dirty="0" err="1"/>
              <a:t>message</a:t>
            </a:r>
            <a:r>
              <a:rPr lang="it-IT" dirty="0"/>
              <a:t> </a:t>
            </a:r>
            <a:r>
              <a:rPr lang="it-IT" dirty="0" err="1"/>
              <a:t>queues</a:t>
            </a:r>
            <a:r>
              <a:rPr lang="it-IT" dirty="0"/>
              <a:t>. Questa architettura richiede nuove competenze: service </a:t>
            </a:r>
            <a:r>
              <a:rPr lang="it-IT" dirty="0" err="1"/>
              <a:t>discovery</a:t>
            </a:r>
            <a:r>
              <a:rPr lang="it-IT" dirty="0"/>
              <a:t>, </a:t>
            </a:r>
            <a:r>
              <a:rPr lang="it-IT" dirty="0" err="1"/>
              <a:t>distributed</a:t>
            </a:r>
            <a:r>
              <a:rPr lang="it-IT" dirty="0"/>
              <a:t> tracing, </a:t>
            </a:r>
            <a:r>
              <a:rPr lang="it-IT" dirty="0" err="1"/>
              <a:t>circuit</a:t>
            </a:r>
            <a:r>
              <a:rPr lang="it-IT" dirty="0"/>
              <a:t> </a:t>
            </a:r>
            <a:r>
              <a:rPr lang="it-IT" dirty="0" err="1"/>
              <a:t>breakers</a:t>
            </a:r>
            <a:r>
              <a:rPr lang="it-IT" dirty="0"/>
              <a:t>, e </a:t>
            </a:r>
            <a:r>
              <a:rPr lang="it-IT" dirty="0" err="1"/>
              <a:t>resilience</a:t>
            </a:r>
            <a:r>
              <a:rPr lang="it-IT" dirty="0"/>
              <a:t> patterns diventano parte essenziale del toolkit del developer.</a:t>
            </a:r>
          </a:p>
          <a:p>
            <a:r>
              <a:rPr lang="it-IT" dirty="0"/>
              <a:t>Il </a:t>
            </a:r>
            <a:r>
              <a:rPr lang="it-IT" dirty="0" err="1"/>
              <a:t>serverless</a:t>
            </a:r>
            <a:r>
              <a:rPr lang="it-IT" dirty="0"/>
              <a:t> computing rappresenta un'altra frontiera interessante, dove funzioni Python vengono eseguite on-demand senza gestire server. Piattaforme come AWS Lambda, Google Cloud </a:t>
            </a:r>
            <a:r>
              <a:rPr lang="it-IT" dirty="0" err="1"/>
              <a:t>Functions</a:t>
            </a:r>
            <a:r>
              <a:rPr lang="it-IT" dirty="0"/>
              <a:t>, e </a:t>
            </a:r>
            <a:r>
              <a:rPr lang="it-IT" dirty="0" err="1"/>
              <a:t>Vercel</a:t>
            </a:r>
            <a:r>
              <a:rPr lang="it-IT"/>
              <a:t> stanno rendendo possibile costruire applicazioni complete senza mai pensare all'infrastruttura sottostante, cambiando radicalmente il modello economico e operativo dello sviluppo web.</a:t>
            </a:r>
          </a:p>
          <a:p>
            <a:endParaRPr lang="it-IT" dirty="0"/>
          </a:p>
        </p:txBody>
      </p:sp>
    </p:spTree>
    <p:extLst>
      <p:ext uri="{BB962C8B-B14F-4D97-AF65-F5344CB8AC3E}">
        <p14:creationId xmlns:p14="http://schemas.microsoft.com/office/powerpoint/2010/main" val="2160843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olo">
    <p:spTree>
      <p:nvGrpSpPr>
        <p:cNvPr id="1" name=""/>
        <p:cNvGrpSpPr/>
        <p:nvPr/>
      </p:nvGrpSpPr>
      <p:grpSpPr>
        <a:xfrm>
          <a:off x="0" y="0"/>
          <a:ext cx="0" cy="0"/>
          <a:chOff x="0" y="0"/>
          <a:chExt cx="0" cy="0"/>
        </a:xfrm>
      </p:grpSpPr>
      <p:sp>
        <p:nvSpPr>
          <p:cNvPr id="11" name="Titolo presentazione"/>
          <p:cNvSpPr txBox="1">
            <a:spLocks noGrp="1"/>
          </p:cNvSpPr>
          <p:nvPr>
            <p:ph type="title" hasCustomPrompt="1"/>
          </p:nvPr>
        </p:nvSpPr>
        <p:spPr>
          <a:xfrm>
            <a:off x="1270000" y="3289300"/>
            <a:ext cx="21844000" cy="3879454"/>
          </a:xfrm>
          <a:prstGeom prst="rect">
            <a:avLst/>
          </a:prstGeom>
        </p:spPr>
        <p:txBody>
          <a:bodyPr/>
          <a:lstStyle>
            <a:lvl1pPr defTabSz="2438338">
              <a:lnSpc>
                <a:spcPct val="90000"/>
              </a:lnSpc>
              <a:defRPr sz="11600" spc="-348">
                <a:gradFill flip="none" rotWithShape="1">
                  <a:gsLst>
                    <a:gs pos="0">
                      <a:srgbClr val="1E98FD"/>
                    </a:gs>
                    <a:gs pos="100000">
                      <a:srgbClr val="FF00F7"/>
                    </a:gs>
                  </a:gsLst>
                  <a:lin ang="3960000" scaled="0"/>
                </a:gradFill>
              </a:defRPr>
            </a:lvl1pPr>
          </a:lstStyle>
          <a:p>
            <a:r>
              <a:t>Titolo presentazione</a:t>
            </a:r>
          </a:p>
        </p:txBody>
      </p:sp>
      <p:sp>
        <p:nvSpPr>
          <p:cNvPr id="12" name="Autore e data"/>
          <p:cNvSpPr txBox="1">
            <a:spLocks noGrp="1"/>
          </p:cNvSpPr>
          <p:nvPr>
            <p:ph type="body" sz="quarter" idx="21" hasCustomPrompt="1"/>
          </p:nvPr>
        </p:nvSpPr>
        <p:spPr>
          <a:xfrm>
            <a:off x="1270000" y="12160429"/>
            <a:ext cx="21844000" cy="694056"/>
          </a:xfrm>
          <a:prstGeom prst="rect">
            <a:avLst/>
          </a:prstGeom>
        </p:spPr>
        <p:txBody>
          <a:bodyPr/>
          <a:lstStyle>
            <a:lvl1pPr marL="0" indent="0" algn="ctr" defTabSz="825500">
              <a:spcBef>
                <a:spcPts val="0"/>
              </a:spcBef>
              <a:buClrTx/>
              <a:buSzTx/>
              <a:buNone/>
              <a:defRPr sz="3500">
                <a:latin typeface="Graphik-Medium"/>
                <a:ea typeface="Graphik-Medium"/>
                <a:cs typeface="Graphik-Medium"/>
                <a:sym typeface="Graphik Medium"/>
              </a:defRPr>
            </a:lvl1pPr>
          </a:lstStyle>
          <a:p>
            <a:r>
              <a:t>Autore e data</a:t>
            </a:r>
          </a:p>
        </p:txBody>
      </p:sp>
      <p:sp>
        <p:nvSpPr>
          <p:cNvPr id="13" name="Corpo livello uno…"/>
          <p:cNvSpPr txBox="1">
            <a:spLocks noGrp="1"/>
          </p:cNvSpPr>
          <p:nvPr>
            <p:ph type="body" sz="quarter" idx="1" hasCustomPrompt="1"/>
          </p:nvPr>
        </p:nvSpPr>
        <p:spPr>
          <a:xfrm>
            <a:off x="1270000" y="6985000"/>
            <a:ext cx="21844000" cy="2512352"/>
          </a:xfrm>
          <a:prstGeom prst="rect">
            <a:avLst/>
          </a:prstGeom>
        </p:spPr>
        <p:txBody>
          <a:bodyPr/>
          <a:lstStyle>
            <a:lvl1pPr marL="0" indent="0" algn="ctr" defTabSz="825500">
              <a:spcBef>
                <a:spcPts val="0"/>
              </a:spcBef>
              <a:buClrTx/>
              <a:buSzTx/>
              <a:buNone/>
              <a:defRPr sz="6400">
                <a:latin typeface="Graphik-Medium"/>
                <a:ea typeface="Graphik-Medium"/>
                <a:cs typeface="Graphik-Medium"/>
                <a:sym typeface="Graphik Medium"/>
              </a:defRPr>
            </a:lvl1pPr>
            <a:lvl2pPr marL="0" indent="0" algn="ctr" defTabSz="825500">
              <a:spcBef>
                <a:spcPts val="0"/>
              </a:spcBef>
              <a:buClrTx/>
              <a:buSzTx/>
              <a:buNone/>
              <a:defRPr sz="6400">
                <a:latin typeface="Graphik-Medium"/>
                <a:ea typeface="Graphik-Medium"/>
                <a:cs typeface="Graphik-Medium"/>
                <a:sym typeface="Graphik Medium"/>
              </a:defRPr>
            </a:lvl2pPr>
            <a:lvl3pPr marL="0" indent="0" algn="ctr" defTabSz="825500">
              <a:spcBef>
                <a:spcPts val="0"/>
              </a:spcBef>
              <a:buClrTx/>
              <a:buSzTx/>
              <a:buNone/>
              <a:defRPr sz="6400">
                <a:latin typeface="Graphik-Medium"/>
                <a:ea typeface="Graphik-Medium"/>
                <a:cs typeface="Graphik-Medium"/>
                <a:sym typeface="Graphik Medium"/>
              </a:defRPr>
            </a:lvl3pPr>
            <a:lvl4pPr marL="0" indent="0" algn="ctr" defTabSz="825500">
              <a:spcBef>
                <a:spcPts val="0"/>
              </a:spcBef>
              <a:buClrTx/>
              <a:buSzTx/>
              <a:buNone/>
              <a:defRPr sz="6400">
                <a:latin typeface="Graphik-Medium"/>
                <a:ea typeface="Graphik-Medium"/>
                <a:cs typeface="Graphik-Medium"/>
                <a:sym typeface="Graphik Medium"/>
              </a:defRPr>
            </a:lvl4pPr>
            <a:lvl5pPr marL="0" indent="0" algn="ctr" defTabSz="825500">
              <a:spcBef>
                <a:spcPts val="0"/>
              </a:spcBef>
              <a:buClrTx/>
              <a:buSzTx/>
              <a:buNone/>
              <a:defRPr sz="6400">
                <a:latin typeface="Graphik-Medium"/>
                <a:ea typeface="Graphik-Medium"/>
                <a:cs typeface="Graphik-Medium"/>
                <a:sym typeface="Graphik Medium"/>
              </a:defRPr>
            </a:lvl5pPr>
          </a:lstStyle>
          <a:p>
            <a:r>
              <a:t>Sottotitolo presentazione</a:t>
            </a:r>
          </a:p>
          <a:p>
            <a:pPr lvl="1"/>
            <a:endParaRPr/>
          </a:p>
          <a:p>
            <a:pPr lvl="2"/>
            <a:endParaRPr/>
          </a:p>
          <a:p>
            <a:pPr lvl="3"/>
            <a:endParaRPr/>
          </a:p>
          <a:p>
            <a:pPr lvl="4"/>
            <a:endParaRPr/>
          </a:p>
        </p:txBody>
      </p:sp>
      <p:sp>
        <p:nvSpPr>
          <p:cNvPr id="14"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olo ed elenco">
    <p:spTree>
      <p:nvGrpSpPr>
        <p:cNvPr id="1" name=""/>
        <p:cNvGrpSpPr/>
        <p:nvPr/>
      </p:nvGrpSpPr>
      <p:grpSpPr>
        <a:xfrm>
          <a:off x="0" y="0"/>
          <a:ext cx="0" cy="0"/>
          <a:chOff x="0" y="0"/>
          <a:chExt cx="0" cy="0"/>
        </a:xfrm>
      </p:grpSpPr>
      <p:sp>
        <p:nvSpPr>
          <p:cNvPr id="42" name="Titolo"/>
          <p:cNvSpPr txBox="1">
            <a:spLocks noGrp="1"/>
          </p:cNvSpPr>
          <p:nvPr>
            <p:ph type="title" hasCustomPrompt="1"/>
          </p:nvPr>
        </p:nvSpPr>
        <p:spPr>
          <a:prstGeom prst="rect">
            <a:avLst/>
          </a:prstGeom>
        </p:spPr>
        <p:txBody>
          <a:bodyPr/>
          <a:lstStyle/>
          <a:p>
            <a:r>
              <a:t>Titolo</a:t>
            </a:r>
          </a:p>
        </p:txBody>
      </p:sp>
      <p:sp>
        <p:nvSpPr>
          <p:cNvPr id="43" name="Sottotitolo diapositiva"/>
          <p:cNvSpPr txBox="1">
            <a:spLocks noGrp="1"/>
          </p:cNvSpPr>
          <p:nvPr>
            <p:ph type="body" sz="quarter" idx="21" hasCustomPrompt="1"/>
          </p:nvPr>
        </p:nvSpPr>
        <p:spPr>
          <a:xfrm>
            <a:off x="1270000" y="2133600"/>
            <a:ext cx="21844000" cy="1016000"/>
          </a:xfrm>
          <a:prstGeom prst="rect">
            <a:avLst/>
          </a:prstGeom>
        </p:spPr>
        <p:txBody>
          <a:bodyPr/>
          <a:lstStyle>
            <a:lvl1pPr marL="0" indent="0" algn="ctr" defTabSz="825500">
              <a:spcBef>
                <a:spcPts val="0"/>
              </a:spcBef>
              <a:buClrTx/>
              <a:buSzTx/>
              <a:buNone/>
              <a:defRPr sz="5400">
                <a:latin typeface="Graphik-Medium"/>
                <a:ea typeface="Graphik-Medium"/>
                <a:cs typeface="Graphik-Medium"/>
                <a:sym typeface="Graphik Medium"/>
              </a:defRPr>
            </a:lvl1pPr>
          </a:lstStyle>
          <a:p>
            <a:r>
              <a:t>Sottotitolo diapositiva</a:t>
            </a:r>
          </a:p>
        </p:txBody>
      </p:sp>
      <p:sp>
        <p:nvSpPr>
          <p:cNvPr id="44" name="Corpo livello uno…"/>
          <p:cNvSpPr txBox="1">
            <a:spLocks noGrp="1"/>
          </p:cNvSpPr>
          <p:nvPr>
            <p:ph type="body" idx="1" hasCustomPrompt="1"/>
          </p:nvPr>
        </p:nvSpPr>
        <p:spPr>
          <a:prstGeom prst="rect">
            <a:avLst/>
          </a:prstGeom>
        </p:spPr>
        <p:txBody>
          <a:bodyPr/>
          <a:lstStyle/>
          <a:p>
            <a:r>
              <a:t>Testo elenco puntato diapositiva</a:t>
            </a:r>
          </a:p>
          <a:p>
            <a:pPr lvl="1"/>
            <a:endParaRPr/>
          </a:p>
          <a:p>
            <a:pPr lvl="2"/>
            <a:endParaRPr/>
          </a:p>
          <a:p>
            <a:pPr lvl="3"/>
            <a:endParaRPr/>
          </a:p>
          <a:p>
            <a:pPr lvl="4"/>
            <a:endParaRPr/>
          </a:p>
        </p:txBody>
      </p:sp>
      <p:sp>
        <p:nvSpPr>
          <p:cNvPr id="45"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Elenco">
    <p:spTree>
      <p:nvGrpSpPr>
        <p:cNvPr id="1" name=""/>
        <p:cNvGrpSpPr/>
        <p:nvPr/>
      </p:nvGrpSpPr>
      <p:grpSpPr>
        <a:xfrm>
          <a:off x="0" y="0"/>
          <a:ext cx="0" cy="0"/>
          <a:chOff x="0" y="0"/>
          <a:chExt cx="0" cy="0"/>
        </a:xfrm>
      </p:grpSpPr>
      <p:sp>
        <p:nvSpPr>
          <p:cNvPr id="52" name="Corpo livello uno…"/>
          <p:cNvSpPr txBox="1">
            <a:spLocks noGrp="1"/>
          </p:cNvSpPr>
          <p:nvPr>
            <p:ph type="body" idx="1" hasCustomPrompt="1"/>
          </p:nvPr>
        </p:nvSpPr>
        <p:spPr>
          <a:xfrm>
            <a:off x="1270000" y="4269316"/>
            <a:ext cx="21844000" cy="8432801"/>
          </a:xfrm>
          <a:prstGeom prst="rect">
            <a:avLst/>
          </a:prstGeom>
        </p:spPr>
        <p:txBody>
          <a:bodyPr numCol="2" spcCol="1092200"/>
          <a:lstStyle/>
          <a:p>
            <a:r>
              <a:t>Testo elenco puntato diapositiva</a:t>
            </a:r>
          </a:p>
          <a:p>
            <a:pPr lvl="1"/>
            <a:endParaRPr/>
          </a:p>
          <a:p>
            <a:pPr lvl="2"/>
            <a:endParaRPr/>
          </a:p>
          <a:p>
            <a:pPr lvl="3"/>
            <a:endParaRPr/>
          </a:p>
          <a:p>
            <a:pPr lvl="4"/>
            <a:endParaRPr/>
          </a:p>
        </p:txBody>
      </p:sp>
      <p:sp>
        <p:nvSpPr>
          <p:cNvPr id="53"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olo, elenco e foto">
    <p:spTree>
      <p:nvGrpSpPr>
        <p:cNvPr id="1" name=""/>
        <p:cNvGrpSpPr/>
        <p:nvPr/>
      </p:nvGrpSpPr>
      <p:grpSpPr>
        <a:xfrm>
          <a:off x="0" y="0"/>
          <a:ext cx="0" cy="0"/>
          <a:chOff x="0" y="0"/>
          <a:chExt cx="0" cy="0"/>
        </a:xfrm>
      </p:grpSpPr>
      <p:sp>
        <p:nvSpPr>
          <p:cNvPr id="60" name="Due meduse su sfondo di colore rosa"/>
          <p:cNvSpPr>
            <a:spLocks noGrp="1"/>
          </p:cNvSpPr>
          <p:nvPr>
            <p:ph type="pic" idx="21"/>
          </p:nvPr>
        </p:nvSpPr>
        <p:spPr>
          <a:xfrm>
            <a:off x="10185400" y="0"/>
            <a:ext cx="18161000" cy="13716000"/>
          </a:xfrm>
          <a:prstGeom prst="rect">
            <a:avLst/>
          </a:prstGeom>
        </p:spPr>
        <p:txBody>
          <a:bodyPr lIns="91439" tIns="45719" rIns="91439" bIns="45719">
            <a:noAutofit/>
          </a:bodyPr>
          <a:lstStyle/>
          <a:p>
            <a:endParaRPr/>
          </a:p>
        </p:txBody>
      </p:sp>
      <p:sp>
        <p:nvSpPr>
          <p:cNvPr id="61" name="Titolo"/>
          <p:cNvSpPr txBox="1">
            <a:spLocks noGrp="1"/>
          </p:cNvSpPr>
          <p:nvPr>
            <p:ph type="title" hasCustomPrompt="1"/>
          </p:nvPr>
        </p:nvSpPr>
        <p:spPr>
          <a:xfrm>
            <a:off x="1270000" y="838200"/>
            <a:ext cx="9652000" cy="1549400"/>
          </a:xfrm>
          <a:prstGeom prst="rect">
            <a:avLst/>
          </a:prstGeom>
        </p:spPr>
        <p:txBody>
          <a:bodyPr/>
          <a:lstStyle>
            <a:lvl1pPr>
              <a:defRPr>
                <a:gradFill flip="none" rotWithShape="1">
                  <a:gsLst>
                    <a:gs pos="0">
                      <a:srgbClr val="5E03FF"/>
                    </a:gs>
                    <a:gs pos="100000">
                      <a:srgbClr val="FF00F7"/>
                    </a:gs>
                  </a:gsLst>
                  <a:lin ang="3960000" scaled="0"/>
                </a:gradFill>
              </a:defRPr>
            </a:lvl1pPr>
          </a:lstStyle>
          <a:p>
            <a:r>
              <a:t>Titolo</a:t>
            </a:r>
          </a:p>
        </p:txBody>
      </p:sp>
      <p:sp>
        <p:nvSpPr>
          <p:cNvPr id="62" name="Corpo livello uno…"/>
          <p:cNvSpPr txBox="1">
            <a:spLocks noGrp="1"/>
          </p:cNvSpPr>
          <p:nvPr>
            <p:ph type="body" sz="half" idx="1" hasCustomPrompt="1"/>
          </p:nvPr>
        </p:nvSpPr>
        <p:spPr>
          <a:xfrm>
            <a:off x="1270000" y="4267200"/>
            <a:ext cx="9652000" cy="8432800"/>
          </a:xfrm>
          <a:prstGeom prst="rect">
            <a:avLst/>
          </a:prstGeom>
        </p:spPr>
        <p:txBody>
          <a:bodyPr/>
          <a:lstStyle/>
          <a:p>
            <a:r>
              <a:t>Testo elenco puntato diapositiva</a:t>
            </a:r>
          </a:p>
          <a:p>
            <a:pPr lvl="1"/>
            <a:endParaRPr/>
          </a:p>
          <a:p>
            <a:pPr lvl="2"/>
            <a:endParaRPr/>
          </a:p>
          <a:p>
            <a:pPr lvl="3"/>
            <a:endParaRPr/>
          </a:p>
          <a:p>
            <a:pPr lvl="4"/>
            <a:endParaRPr/>
          </a:p>
        </p:txBody>
      </p:sp>
      <p:sp>
        <p:nvSpPr>
          <p:cNvPr id="63" name="Sottotitolo diapositiva"/>
          <p:cNvSpPr txBox="1">
            <a:spLocks noGrp="1"/>
          </p:cNvSpPr>
          <p:nvPr>
            <p:ph type="body" sz="quarter" idx="22" hasCustomPrompt="1"/>
          </p:nvPr>
        </p:nvSpPr>
        <p:spPr>
          <a:xfrm>
            <a:off x="1270000" y="2133600"/>
            <a:ext cx="9652000" cy="1016000"/>
          </a:xfrm>
          <a:prstGeom prst="rect">
            <a:avLst/>
          </a:prstGeom>
        </p:spPr>
        <p:txBody>
          <a:bodyPr/>
          <a:lstStyle>
            <a:lvl1pPr marL="0" indent="0" algn="ctr" defTabSz="825500">
              <a:spcBef>
                <a:spcPts val="0"/>
              </a:spcBef>
              <a:buClrTx/>
              <a:buSzTx/>
              <a:buNone/>
              <a:defRPr sz="5400">
                <a:latin typeface="Graphik-Medium"/>
                <a:ea typeface="Graphik-Medium"/>
                <a:cs typeface="Graphik-Medium"/>
                <a:sym typeface="Graphik Medium"/>
              </a:defRPr>
            </a:lvl1pPr>
          </a:lstStyle>
          <a:p>
            <a:r>
              <a:t>Sottotitolo diapositiva</a:t>
            </a:r>
          </a:p>
        </p:txBody>
      </p:sp>
      <p:sp>
        <p:nvSpPr>
          <p:cNvPr id="64"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olo, elenco e diretta piccola">
    <p:spTree>
      <p:nvGrpSpPr>
        <p:cNvPr id="1" name=""/>
        <p:cNvGrpSpPr/>
        <p:nvPr/>
      </p:nvGrpSpPr>
      <p:grpSpPr>
        <a:xfrm>
          <a:off x="0" y="0"/>
          <a:ext cx="0" cy="0"/>
          <a:chOff x="0" y="0"/>
          <a:chExt cx="0" cy="0"/>
        </a:xfrm>
      </p:grpSpPr>
      <p:sp>
        <p:nvSpPr>
          <p:cNvPr id="71" name="Titolo"/>
          <p:cNvSpPr txBox="1">
            <a:spLocks noGrp="1"/>
          </p:cNvSpPr>
          <p:nvPr>
            <p:ph type="title" hasCustomPrompt="1"/>
          </p:nvPr>
        </p:nvSpPr>
        <p:spPr>
          <a:xfrm>
            <a:off x="1270000" y="838200"/>
            <a:ext cx="9652000" cy="1549400"/>
          </a:xfrm>
          <a:prstGeom prst="rect">
            <a:avLst/>
          </a:prstGeom>
        </p:spPr>
        <p:txBody>
          <a:bodyPr/>
          <a:lstStyle>
            <a:lvl1pPr>
              <a:defRPr>
                <a:gradFill flip="none" rotWithShape="1">
                  <a:gsLst>
                    <a:gs pos="0">
                      <a:srgbClr val="5E03FF"/>
                    </a:gs>
                    <a:gs pos="100000">
                      <a:srgbClr val="FF00F7"/>
                    </a:gs>
                  </a:gsLst>
                  <a:lin ang="3960000" scaled="0"/>
                </a:gradFill>
              </a:defRPr>
            </a:lvl1pPr>
          </a:lstStyle>
          <a:p>
            <a:r>
              <a:t>Titolo</a:t>
            </a:r>
          </a:p>
        </p:txBody>
      </p:sp>
      <p:sp>
        <p:nvSpPr>
          <p:cNvPr id="72" name="Corpo livello uno…"/>
          <p:cNvSpPr txBox="1">
            <a:spLocks noGrp="1"/>
          </p:cNvSpPr>
          <p:nvPr>
            <p:ph type="body" sz="half" idx="1" hasCustomPrompt="1"/>
          </p:nvPr>
        </p:nvSpPr>
        <p:spPr>
          <a:xfrm>
            <a:off x="1270000" y="4267200"/>
            <a:ext cx="9652000" cy="8432800"/>
          </a:xfrm>
          <a:prstGeom prst="rect">
            <a:avLst/>
          </a:prstGeom>
        </p:spPr>
        <p:txBody>
          <a:bodyPr/>
          <a:lstStyle/>
          <a:p>
            <a:r>
              <a:t>Testo elenco puntato diapositiva</a:t>
            </a:r>
          </a:p>
          <a:p>
            <a:pPr lvl="1"/>
            <a:endParaRPr/>
          </a:p>
          <a:p>
            <a:pPr lvl="2"/>
            <a:endParaRPr/>
          </a:p>
          <a:p>
            <a:pPr lvl="3"/>
            <a:endParaRPr/>
          </a:p>
          <a:p>
            <a:pPr lvl="4"/>
            <a:endParaRPr/>
          </a:p>
        </p:txBody>
      </p:sp>
      <p:sp>
        <p:nvSpPr>
          <p:cNvPr id="73" name="Sottotitolo diapositiva"/>
          <p:cNvSpPr txBox="1">
            <a:spLocks noGrp="1"/>
          </p:cNvSpPr>
          <p:nvPr>
            <p:ph type="body" sz="quarter" idx="21" hasCustomPrompt="1"/>
          </p:nvPr>
        </p:nvSpPr>
        <p:spPr>
          <a:xfrm>
            <a:off x="1270000" y="2133600"/>
            <a:ext cx="9652000" cy="1016000"/>
          </a:xfrm>
          <a:prstGeom prst="rect">
            <a:avLst/>
          </a:prstGeom>
        </p:spPr>
        <p:txBody>
          <a:bodyPr/>
          <a:lstStyle>
            <a:lvl1pPr marL="0" indent="0" algn="ctr" defTabSz="825500">
              <a:spcBef>
                <a:spcPts val="0"/>
              </a:spcBef>
              <a:buClrTx/>
              <a:buSzTx/>
              <a:buNone/>
              <a:defRPr sz="5400">
                <a:latin typeface="Graphik-Medium"/>
                <a:ea typeface="Graphik-Medium"/>
                <a:cs typeface="Graphik-Medium"/>
                <a:sym typeface="Graphik Medium"/>
              </a:defRPr>
            </a:lvl1pPr>
          </a:lstStyle>
          <a:p>
            <a:r>
              <a:t>Sottotitolo diapositiva</a:t>
            </a:r>
          </a:p>
        </p:txBody>
      </p:sp>
      <p:sp>
        <p:nvSpPr>
          <p:cNvPr id="74"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olo, elenco e diretta grande">
    <p:spTree>
      <p:nvGrpSpPr>
        <p:cNvPr id="1" name=""/>
        <p:cNvGrpSpPr/>
        <p:nvPr/>
      </p:nvGrpSpPr>
      <p:grpSpPr>
        <a:xfrm>
          <a:off x="0" y="0"/>
          <a:ext cx="0" cy="0"/>
          <a:chOff x="0" y="0"/>
          <a:chExt cx="0" cy="0"/>
        </a:xfrm>
      </p:grpSpPr>
      <p:sp>
        <p:nvSpPr>
          <p:cNvPr id="81" name="Titolo"/>
          <p:cNvSpPr txBox="1">
            <a:spLocks noGrp="1"/>
          </p:cNvSpPr>
          <p:nvPr>
            <p:ph type="title" hasCustomPrompt="1"/>
          </p:nvPr>
        </p:nvSpPr>
        <p:spPr>
          <a:xfrm>
            <a:off x="1270000" y="838200"/>
            <a:ext cx="9652000" cy="1549400"/>
          </a:xfrm>
          <a:prstGeom prst="rect">
            <a:avLst/>
          </a:prstGeom>
        </p:spPr>
        <p:txBody>
          <a:bodyPr/>
          <a:lstStyle>
            <a:lvl1pPr>
              <a:defRPr>
                <a:gradFill flip="none" rotWithShape="1">
                  <a:gsLst>
                    <a:gs pos="0">
                      <a:srgbClr val="5E03FF"/>
                    </a:gs>
                    <a:gs pos="100000">
                      <a:srgbClr val="FF00F7"/>
                    </a:gs>
                  </a:gsLst>
                  <a:lin ang="3960000" scaled="0"/>
                </a:gradFill>
              </a:defRPr>
            </a:lvl1pPr>
          </a:lstStyle>
          <a:p>
            <a:r>
              <a:t>Titolo</a:t>
            </a:r>
          </a:p>
        </p:txBody>
      </p:sp>
      <p:sp>
        <p:nvSpPr>
          <p:cNvPr id="82" name="Corpo livello uno…"/>
          <p:cNvSpPr txBox="1">
            <a:spLocks noGrp="1"/>
          </p:cNvSpPr>
          <p:nvPr>
            <p:ph type="body" sz="half" idx="1" hasCustomPrompt="1"/>
          </p:nvPr>
        </p:nvSpPr>
        <p:spPr>
          <a:xfrm>
            <a:off x="1270000" y="4267200"/>
            <a:ext cx="9652000" cy="8432800"/>
          </a:xfrm>
          <a:prstGeom prst="rect">
            <a:avLst/>
          </a:prstGeom>
        </p:spPr>
        <p:txBody>
          <a:bodyPr/>
          <a:lstStyle/>
          <a:p>
            <a:r>
              <a:t>Testo elenco puntato diapositiva</a:t>
            </a:r>
          </a:p>
          <a:p>
            <a:pPr lvl="1"/>
            <a:endParaRPr/>
          </a:p>
          <a:p>
            <a:pPr lvl="2"/>
            <a:endParaRPr/>
          </a:p>
          <a:p>
            <a:pPr lvl="3"/>
            <a:endParaRPr/>
          </a:p>
          <a:p>
            <a:pPr lvl="4"/>
            <a:endParaRPr/>
          </a:p>
        </p:txBody>
      </p:sp>
      <p:sp>
        <p:nvSpPr>
          <p:cNvPr id="83" name="Sottotitolo diapositiva"/>
          <p:cNvSpPr txBox="1">
            <a:spLocks noGrp="1"/>
          </p:cNvSpPr>
          <p:nvPr>
            <p:ph type="body" sz="quarter" idx="21" hasCustomPrompt="1"/>
          </p:nvPr>
        </p:nvSpPr>
        <p:spPr>
          <a:xfrm>
            <a:off x="1270000" y="2133600"/>
            <a:ext cx="9652000" cy="1016000"/>
          </a:xfrm>
          <a:prstGeom prst="rect">
            <a:avLst/>
          </a:prstGeom>
        </p:spPr>
        <p:txBody>
          <a:bodyPr/>
          <a:lstStyle>
            <a:lvl1pPr marL="0" indent="0" algn="ctr" defTabSz="825500">
              <a:spcBef>
                <a:spcPts val="0"/>
              </a:spcBef>
              <a:buClrTx/>
              <a:buSzTx/>
              <a:buNone/>
              <a:defRPr sz="5400">
                <a:latin typeface="Graphik-Medium"/>
                <a:ea typeface="Graphik-Medium"/>
                <a:cs typeface="Graphik-Medium"/>
                <a:sym typeface="Graphik Medium"/>
              </a:defRPr>
            </a:lvl1pPr>
          </a:lstStyle>
          <a:p>
            <a:r>
              <a:t>Sottotitolo diapositiva</a:t>
            </a:r>
          </a:p>
        </p:txBody>
      </p:sp>
      <p:sp>
        <p:nvSpPr>
          <p:cNvPr id="84"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Dichiarazione">
    <p:spTree>
      <p:nvGrpSpPr>
        <p:cNvPr id="1" name=""/>
        <p:cNvGrpSpPr/>
        <p:nvPr/>
      </p:nvGrpSpPr>
      <p:grpSpPr>
        <a:xfrm>
          <a:off x="0" y="0"/>
          <a:ext cx="0" cy="0"/>
          <a:chOff x="0" y="0"/>
          <a:chExt cx="0" cy="0"/>
        </a:xfrm>
      </p:grpSpPr>
      <p:sp>
        <p:nvSpPr>
          <p:cNvPr id="118" name="Corpo livello uno…"/>
          <p:cNvSpPr txBox="1">
            <a:spLocks noGrp="1"/>
          </p:cNvSpPr>
          <p:nvPr>
            <p:ph type="body" sz="half" idx="1" hasCustomPrompt="1"/>
          </p:nvPr>
        </p:nvSpPr>
        <p:spPr>
          <a:xfrm>
            <a:off x="1270000" y="4927600"/>
            <a:ext cx="21844000" cy="3902869"/>
          </a:xfrm>
          <a:prstGeom prst="rect">
            <a:avLst/>
          </a:prstGeom>
        </p:spPr>
        <p:txBody>
          <a:bodyPr anchor="ctr"/>
          <a:lstStyle>
            <a:lvl1pPr marL="0" indent="0" algn="ctr">
              <a:spcBef>
                <a:spcPts val="0"/>
              </a:spcBef>
              <a:buClrTx/>
              <a:buSzTx/>
              <a:buNone/>
              <a:defRPr sz="8400" spc="-252">
                <a:gradFill flip="none" rotWithShape="1">
                  <a:gsLst>
                    <a:gs pos="0">
                      <a:srgbClr val="1E98FD"/>
                    </a:gs>
                    <a:gs pos="100000">
                      <a:srgbClr val="FF00F7"/>
                    </a:gs>
                  </a:gsLst>
                  <a:lin ang="3960000" scaled="0"/>
                </a:gradFill>
                <a:latin typeface="Graphik-Medium"/>
                <a:ea typeface="Graphik-Medium"/>
                <a:cs typeface="Graphik-Medium"/>
                <a:sym typeface="Graphik Medium"/>
              </a:defRPr>
            </a:lvl1pPr>
            <a:lvl2pPr marL="0" indent="457200" algn="ctr">
              <a:spcBef>
                <a:spcPts val="0"/>
              </a:spcBef>
              <a:buClrTx/>
              <a:buSzTx/>
              <a:buNone/>
              <a:defRPr sz="8400" spc="-252">
                <a:gradFill flip="none" rotWithShape="1">
                  <a:gsLst>
                    <a:gs pos="0">
                      <a:srgbClr val="1E98FD"/>
                    </a:gs>
                    <a:gs pos="100000">
                      <a:srgbClr val="FF00F7"/>
                    </a:gs>
                  </a:gsLst>
                  <a:lin ang="3960000" scaled="0"/>
                </a:gradFill>
                <a:latin typeface="Graphik-Medium"/>
                <a:ea typeface="Graphik-Medium"/>
                <a:cs typeface="Graphik-Medium"/>
                <a:sym typeface="Graphik Medium"/>
              </a:defRPr>
            </a:lvl2pPr>
            <a:lvl3pPr marL="0" indent="914400" algn="ctr">
              <a:spcBef>
                <a:spcPts val="0"/>
              </a:spcBef>
              <a:buClrTx/>
              <a:buSzTx/>
              <a:buNone/>
              <a:defRPr sz="8400" spc="-252">
                <a:gradFill flip="none" rotWithShape="1">
                  <a:gsLst>
                    <a:gs pos="0">
                      <a:srgbClr val="1E98FD"/>
                    </a:gs>
                    <a:gs pos="100000">
                      <a:srgbClr val="FF00F7"/>
                    </a:gs>
                  </a:gsLst>
                  <a:lin ang="3960000" scaled="0"/>
                </a:gradFill>
                <a:latin typeface="Graphik-Medium"/>
                <a:ea typeface="Graphik-Medium"/>
                <a:cs typeface="Graphik-Medium"/>
                <a:sym typeface="Graphik Medium"/>
              </a:defRPr>
            </a:lvl3pPr>
            <a:lvl4pPr marL="0" indent="1371600" algn="ctr">
              <a:spcBef>
                <a:spcPts val="0"/>
              </a:spcBef>
              <a:buClrTx/>
              <a:buSzTx/>
              <a:buNone/>
              <a:defRPr sz="8400" spc="-252">
                <a:gradFill flip="none" rotWithShape="1">
                  <a:gsLst>
                    <a:gs pos="0">
                      <a:srgbClr val="1E98FD"/>
                    </a:gs>
                    <a:gs pos="100000">
                      <a:srgbClr val="FF00F7"/>
                    </a:gs>
                  </a:gsLst>
                  <a:lin ang="3960000" scaled="0"/>
                </a:gradFill>
                <a:latin typeface="Graphik-Medium"/>
                <a:ea typeface="Graphik-Medium"/>
                <a:cs typeface="Graphik-Medium"/>
                <a:sym typeface="Graphik Medium"/>
              </a:defRPr>
            </a:lvl4pPr>
            <a:lvl5pPr marL="0" indent="1828800" algn="ctr">
              <a:spcBef>
                <a:spcPts val="0"/>
              </a:spcBef>
              <a:buClrTx/>
              <a:buSzTx/>
              <a:buNone/>
              <a:defRPr sz="8400" spc="-252">
                <a:gradFill flip="none" rotWithShape="1">
                  <a:gsLst>
                    <a:gs pos="0">
                      <a:srgbClr val="1E98FD"/>
                    </a:gs>
                    <a:gs pos="100000">
                      <a:srgbClr val="FF00F7"/>
                    </a:gs>
                  </a:gsLst>
                  <a:lin ang="3960000" scaled="0"/>
                </a:gradFill>
                <a:latin typeface="Graphik-Medium"/>
                <a:ea typeface="Graphik-Medium"/>
                <a:cs typeface="Graphik-Medium"/>
                <a:sym typeface="Graphik Medium"/>
              </a:defRPr>
            </a:lvl5pPr>
          </a:lstStyle>
          <a:p>
            <a:r>
              <a:t>Dichiarazione</a:t>
            </a:r>
          </a:p>
          <a:p>
            <a:pPr lvl="1"/>
            <a:endParaRPr/>
          </a:p>
          <a:p>
            <a:pPr lvl="2"/>
            <a:endParaRPr/>
          </a:p>
          <a:p>
            <a:pPr lvl="3"/>
            <a:endParaRPr/>
          </a:p>
          <a:p>
            <a:pPr lvl="4"/>
            <a:endParaRPr/>
          </a:p>
        </p:txBody>
      </p:sp>
      <p:sp>
        <p:nvSpPr>
          <p:cNvPr id="119"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Informazione importante">
    <p:spTree>
      <p:nvGrpSpPr>
        <p:cNvPr id="1" name=""/>
        <p:cNvGrpSpPr/>
        <p:nvPr/>
      </p:nvGrpSpPr>
      <p:grpSpPr>
        <a:xfrm>
          <a:off x="0" y="0"/>
          <a:ext cx="0" cy="0"/>
          <a:chOff x="0" y="0"/>
          <a:chExt cx="0" cy="0"/>
        </a:xfrm>
      </p:grpSpPr>
      <p:sp>
        <p:nvSpPr>
          <p:cNvPr id="126" name="Corpo livello uno…"/>
          <p:cNvSpPr txBox="1">
            <a:spLocks noGrp="1"/>
          </p:cNvSpPr>
          <p:nvPr>
            <p:ph type="body" sz="half" idx="1" hasCustomPrompt="1"/>
          </p:nvPr>
        </p:nvSpPr>
        <p:spPr>
          <a:xfrm>
            <a:off x="1270000" y="3906096"/>
            <a:ext cx="21844000" cy="4488604"/>
          </a:xfrm>
          <a:prstGeom prst="rect">
            <a:avLst/>
          </a:prstGeom>
        </p:spPr>
        <p:txBody>
          <a:bodyPr anchor="b"/>
          <a:lstStyle>
            <a:lvl1pPr marL="0" indent="0" algn="ctr" defTabSz="2438338">
              <a:lnSpc>
                <a:spcPct val="80000"/>
              </a:lnSpc>
              <a:spcBef>
                <a:spcPts val="0"/>
              </a:spcBef>
              <a:buClrTx/>
              <a:buSzTx/>
              <a:buNone/>
              <a:defRPr sz="22400" spc="-448">
                <a:gradFill flip="none" rotWithShape="1">
                  <a:gsLst>
                    <a:gs pos="0">
                      <a:srgbClr val="1E98FD"/>
                    </a:gs>
                    <a:gs pos="100000">
                      <a:srgbClr val="FF00F7"/>
                    </a:gs>
                  </a:gsLst>
                  <a:lin ang="3960000" scaled="0"/>
                </a:gradFill>
                <a:latin typeface="+mn-lt"/>
                <a:ea typeface="+mn-ea"/>
                <a:cs typeface="+mn-cs"/>
                <a:sym typeface="Graphik Semibold"/>
              </a:defRPr>
            </a:lvl1pPr>
            <a:lvl2pPr marL="0" indent="457200" algn="ctr" defTabSz="2438338">
              <a:lnSpc>
                <a:spcPct val="80000"/>
              </a:lnSpc>
              <a:spcBef>
                <a:spcPts val="0"/>
              </a:spcBef>
              <a:buClrTx/>
              <a:buSzTx/>
              <a:buNone/>
              <a:defRPr sz="22400" spc="-448">
                <a:gradFill flip="none" rotWithShape="1">
                  <a:gsLst>
                    <a:gs pos="0">
                      <a:srgbClr val="1E98FD"/>
                    </a:gs>
                    <a:gs pos="100000">
                      <a:srgbClr val="FF00F7"/>
                    </a:gs>
                  </a:gsLst>
                  <a:lin ang="3960000" scaled="0"/>
                </a:gradFill>
                <a:latin typeface="+mn-lt"/>
                <a:ea typeface="+mn-ea"/>
                <a:cs typeface="+mn-cs"/>
                <a:sym typeface="Graphik Semibold"/>
              </a:defRPr>
            </a:lvl2pPr>
            <a:lvl3pPr marL="0" indent="914400" algn="ctr" defTabSz="2438338">
              <a:lnSpc>
                <a:spcPct val="80000"/>
              </a:lnSpc>
              <a:spcBef>
                <a:spcPts val="0"/>
              </a:spcBef>
              <a:buClrTx/>
              <a:buSzTx/>
              <a:buNone/>
              <a:defRPr sz="22400" spc="-448">
                <a:gradFill flip="none" rotWithShape="1">
                  <a:gsLst>
                    <a:gs pos="0">
                      <a:srgbClr val="1E98FD"/>
                    </a:gs>
                    <a:gs pos="100000">
                      <a:srgbClr val="FF00F7"/>
                    </a:gs>
                  </a:gsLst>
                  <a:lin ang="3960000" scaled="0"/>
                </a:gradFill>
                <a:latin typeface="+mn-lt"/>
                <a:ea typeface="+mn-ea"/>
                <a:cs typeface="+mn-cs"/>
                <a:sym typeface="Graphik Semibold"/>
              </a:defRPr>
            </a:lvl3pPr>
            <a:lvl4pPr marL="0" indent="1371600" algn="ctr" defTabSz="2438338">
              <a:lnSpc>
                <a:spcPct val="80000"/>
              </a:lnSpc>
              <a:spcBef>
                <a:spcPts val="0"/>
              </a:spcBef>
              <a:buClrTx/>
              <a:buSzTx/>
              <a:buNone/>
              <a:defRPr sz="22400" spc="-448">
                <a:gradFill flip="none" rotWithShape="1">
                  <a:gsLst>
                    <a:gs pos="0">
                      <a:srgbClr val="1E98FD"/>
                    </a:gs>
                    <a:gs pos="100000">
                      <a:srgbClr val="FF00F7"/>
                    </a:gs>
                  </a:gsLst>
                  <a:lin ang="3960000" scaled="0"/>
                </a:gradFill>
                <a:latin typeface="+mn-lt"/>
                <a:ea typeface="+mn-ea"/>
                <a:cs typeface="+mn-cs"/>
                <a:sym typeface="Graphik Semibold"/>
              </a:defRPr>
            </a:lvl4pPr>
            <a:lvl5pPr marL="0" indent="1828800" algn="ctr" defTabSz="2438338">
              <a:lnSpc>
                <a:spcPct val="80000"/>
              </a:lnSpc>
              <a:spcBef>
                <a:spcPts val="0"/>
              </a:spcBef>
              <a:buClrTx/>
              <a:buSzTx/>
              <a:buNone/>
              <a:defRPr sz="22400" spc="-448">
                <a:gradFill flip="none" rotWithShape="1">
                  <a:gsLst>
                    <a:gs pos="0">
                      <a:srgbClr val="1E98FD"/>
                    </a:gs>
                    <a:gs pos="100000">
                      <a:srgbClr val="FF00F7"/>
                    </a:gs>
                  </a:gsLst>
                  <a:lin ang="3960000" scaled="0"/>
                </a:gradFill>
                <a:latin typeface="+mn-lt"/>
                <a:ea typeface="+mn-ea"/>
                <a:cs typeface="+mn-cs"/>
                <a:sym typeface="Graphik Semibold"/>
              </a:defRPr>
            </a:lvl5pPr>
          </a:lstStyle>
          <a:p>
            <a:r>
              <a:t>100%</a:t>
            </a:r>
          </a:p>
          <a:p>
            <a:pPr lvl="1"/>
            <a:endParaRPr/>
          </a:p>
          <a:p>
            <a:pPr lvl="2"/>
            <a:endParaRPr/>
          </a:p>
          <a:p>
            <a:pPr lvl="3"/>
            <a:endParaRPr/>
          </a:p>
          <a:p>
            <a:pPr lvl="4"/>
            <a:endParaRPr/>
          </a:p>
        </p:txBody>
      </p:sp>
      <p:sp>
        <p:nvSpPr>
          <p:cNvPr id="127" name="Dettagli informazione"/>
          <p:cNvSpPr txBox="1">
            <a:spLocks noGrp="1"/>
          </p:cNvSpPr>
          <p:nvPr>
            <p:ph type="body" sz="quarter" idx="21" hasCustomPrompt="1"/>
          </p:nvPr>
        </p:nvSpPr>
        <p:spPr>
          <a:xfrm>
            <a:off x="1270000" y="8521700"/>
            <a:ext cx="21844000" cy="1016000"/>
          </a:xfrm>
          <a:prstGeom prst="rect">
            <a:avLst/>
          </a:prstGeom>
        </p:spPr>
        <p:txBody>
          <a:bodyPr/>
          <a:lstStyle>
            <a:lvl1pPr marL="0" indent="0" algn="ctr" defTabSz="825500">
              <a:spcBef>
                <a:spcPts val="0"/>
              </a:spcBef>
              <a:buClrTx/>
              <a:buSzTx/>
              <a:buNone/>
              <a:defRPr sz="4400">
                <a:latin typeface="Graphik-Medium"/>
                <a:ea typeface="Graphik-Medium"/>
                <a:cs typeface="Graphik-Medium"/>
                <a:sym typeface="Graphik Medium"/>
              </a:defRPr>
            </a:lvl1pPr>
          </a:lstStyle>
          <a:p>
            <a:r>
              <a:t>Dettagli informazione</a:t>
            </a:r>
          </a:p>
        </p:txBody>
      </p:sp>
      <p:sp>
        <p:nvSpPr>
          <p:cNvPr id="128"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itazione">
    <p:spTree>
      <p:nvGrpSpPr>
        <p:cNvPr id="1" name=""/>
        <p:cNvGrpSpPr/>
        <p:nvPr/>
      </p:nvGrpSpPr>
      <p:grpSpPr>
        <a:xfrm>
          <a:off x="0" y="0"/>
          <a:ext cx="0" cy="0"/>
          <a:chOff x="0" y="0"/>
          <a:chExt cx="0" cy="0"/>
        </a:xfrm>
      </p:grpSpPr>
      <p:sp>
        <p:nvSpPr>
          <p:cNvPr id="135" name="Attribuzione"/>
          <p:cNvSpPr txBox="1">
            <a:spLocks noGrp="1"/>
          </p:cNvSpPr>
          <p:nvPr>
            <p:ph type="body" sz="quarter" idx="21" hasCustomPrompt="1"/>
          </p:nvPr>
        </p:nvSpPr>
        <p:spPr>
          <a:xfrm>
            <a:off x="1270000" y="11155086"/>
            <a:ext cx="21844000" cy="832613"/>
          </a:xfrm>
          <a:prstGeom prst="rect">
            <a:avLst/>
          </a:prstGeom>
        </p:spPr>
        <p:txBody>
          <a:bodyPr anchor="ctr"/>
          <a:lstStyle>
            <a:lvl1pPr marL="0" indent="0" algn="ctr" defTabSz="825500">
              <a:spcBef>
                <a:spcPts val="0"/>
              </a:spcBef>
              <a:buClrTx/>
              <a:buSzTx/>
              <a:buNone/>
              <a:defRPr sz="4400">
                <a:latin typeface="Graphik-Medium"/>
                <a:ea typeface="Graphik-Medium"/>
                <a:cs typeface="Graphik-Medium"/>
                <a:sym typeface="Graphik Medium"/>
              </a:defRPr>
            </a:lvl1pPr>
          </a:lstStyle>
          <a:p>
            <a:r>
              <a:t>Attribuzione</a:t>
            </a:r>
          </a:p>
        </p:txBody>
      </p:sp>
      <p:sp>
        <p:nvSpPr>
          <p:cNvPr id="136" name="Corpo livello uno…"/>
          <p:cNvSpPr txBox="1">
            <a:spLocks noGrp="1"/>
          </p:cNvSpPr>
          <p:nvPr>
            <p:ph type="body" sz="half" idx="1" hasCustomPrompt="1"/>
          </p:nvPr>
        </p:nvSpPr>
        <p:spPr>
          <a:xfrm>
            <a:off x="1270000" y="5141969"/>
            <a:ext cx="21844000" cy="3430191"/>
          </a:xfrm>
          <a:prstGeom prst="rect">
            <a:avLst/>
          </a:prstGeom>
        </p:spPr>
        <p:txBody>
          <a:bodyPr anchor="ctr"/>
          <a:lstStyle>
            <a:lvl1pPr marL="0" indent="0" algn="ctr">
              <a:lnSpc>
                <a:spcPct val="80000"/>
              </a:lnSpc>
              <a:spcBef>
                <a:spcPts val="0"/>
              </a:spcBef>
              <a:buClrTx/>
              <a:buSzTx/>
              <a:buNone/>
              <a:defRPr sz="8400" spc="-168">
                <a:gradFill flip="none" rotWithShape="1">
                  <a:gsLst>
                    <a:gs pos="0">
                      <a:srgbClr val="FF00D8"/>
                    </a:gs>
                    <a:gs pos="100000">
                      <a:srgbClr val="FF542E"/>
                    </a:gs>
                  </a:gsLst>
                  <a:lin ang="3960000" scaled="0"/>
                </a:gradFill>
                <a:latin typeface="+mn-lt"/>
                <a:ea typeface="+mn-ea"/>
                <a:cs typeface="+mn-cs"/>
                <a:sym typeface="Graphik Semibold"/>
              </a:defRPr>
            </a:lvl1pPr>
            <a:lvl2pPr marL="0" indent="457200" algn="ctr">
              <a:lnSpc>
                <a:spcPct val="80000"/>
              </a:lnSpc>
              <a:spcBef>
                <a:spcPts val="0"/>
              </a:spcBef>
              <a:buClrTx/>
              <a:buSzTx/>
              <a:buNone/>
              <a:defRPr sz="8400" spc="-168">
                <a:gradFill flip="none" rotWithShape="1">
                  <a:gsLst>
                    <a:gs pos="0">
                      <a:srgbClr val="FF00D8"/>
                    </a:gs>
                    <a:gs pos="100000">
                      <a:srgbClr val="FF542E"/>
                    </a:gs>
                  </a:gsLst>
                  <a:lin ang="3960000" scaled="0"/>
                </a:gradFill>
                <a:latin typeface="+mn-lt"/>
                <a:ea typeface="+mn-ea"/>
                <a:cs typeface="+mn-cs"/>
                <a:sym typeface="Graphik Semibold"/>
              </a:defRPr>
            </a:lvl2pPr>
            <a:lvl3pPr marL="0" indent="914400" algn="ctr">
              <a:lnSpc>
                <a:spcPct val="80000"/>
              </a:lnSpc>
              <a:spcBef>
                <a:spcPts val="0"/>
              </a:spcBef>
              <a:buClrTx/>
              <a:buSzTx/>
              <a:buNone/>
              <a:defRPr sz="8400" spc="-168">
                <a:gradFill flip="none" rotWithShape="1">
                  <a:gsLst>
                    <a:gs pos="0">
                      <a:srgbClr val="FF00D8"/>
                    </a:gs>
                    <a:gs pos="100000">
                      <a:srgbClr val="FF542E"/>
                    </a:gs>
                  </a:gsLst>
                  <a:lin ang="3960000" scaled="0"/>
                </a:gradFill>
                <a:latin typeface="+mn-lt"/>
                <a:ea typeface="+mn-ea"/>
                <a:cs typeface="+mn-cs"/>
                <a:sym typeface="Graphik Semibold"/>
              </a:defRPr>
            </a:lvl3pPr>
            <a:lvl4pPr marL="0" indent="1371600" algn="ctr">
              <a:lnSpc>
                <a:spcPct val="80000"/>
              </a:lnSpc>
              <a:spcBef>
                <a:spcPts val="0"/>
              </a:spcBef>
              <a:buClrTx/>
              <a:buSzTx/>
              <a:buNone/>
              <a:defRPr sz="8400" spc="-168">
                <a:gradFill flip="none" rotWithShape="1">
                  <a:gsLst>
                    <a:gs pos="0">
                      <a:srgbClr val="FF00D8"/>
                    </a:gs>
                    <a:gs pos="100000">
                      <a:srgbClr val="FF542E"/>
                    </a:gs>
                  </a:gsLst>
                  <a:lin ang="3960000" scaled="0"/>
                </a:gradFill>
                <a:latin typeface="+mn-lt"/>
                <a:ea typeface="+mn-ea"/>
                <a:cs typeface="+mn-cs"/>
                <a:sym typeface="Graphik Semibold"/>
              </a:defRPr>
            </a:lvl4pPr>
            <a:lvl5pPr marL="0" indent="1828800" algn="ctr">
              <a:lnSpc>
                <a:spcPct val="80000"/>
              </a:lnSpc>
              <a:spcBef>
                <a:spcPts val="0"/>
              </a:spcBef>
              <a:buClrTx/>
              <a:buSzTx/>
              <a:buNone/>
              <a:defRPr sz="8400" spc="-168">
                <a:gradFill flip="none" rotWithShape="1">
                  <a:gsLst>
                    <a:gs pos="0">
                      <a:srgbClr val="FF00D8"/>
                    </a:gs>
                    <a:gs pos="100000">
                      <a:srgbClr val="FF542E"/>
                    </a:gs>
                  </a:gsLst>
                  <a:lin ang="3960000" scaled="0"/>
                </a:gradFill>
                <a:latin typeface="+mn-lt"/>
                <a:ea typeface="+mn-ea"/>
                <a:cs typeface="+mn-cs"/>
                <a:sym typeface="Graphik Semibold"/>
              </a:defRPr>
            </a:lvl5pPr>
          </a:lstStyle>
          <a:p>
            <a:r>
              <a:t>“Citazione degna di nota”</a:t>
            </a:r>
          </a:p>
          <a:p>
            <a:pPr lvl="1"/>
            <a:endParaRPr/>
          </a:p>
          <a:p>
            <a:pPr lvl="2"/>
            <a:endParaRPr/>
          </a:p>
          <a:p>
            <a:pPr lvl="3"/>
            <a:endParaRPr/>
          </a:p>
          <a:p>
            <a:pPr lvl="4"/>
            <a:endParaRPr/>
          </a:p>
        </p:txBody>
      </p:sp>
      <p:sp>
        <p:nvSpPr>
          <p:cNvPr id="137"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Foto - 3 per pagina">
    <p:spTree>
      <p:nvGrpSpPr>
        <p:cNvPr id="1" name=""/>
        <p:cNvGrpSpPr/>
        <p:nvPr/>
      </p:nvGrpSpPr>
      <p:grpSpPr>
        <a:xfrm>
          <a:off x="0" y="0"/>
          <a:ext cx="0" cy="0"/>
          <a:chOff x="0" y="0"/>
          <a:chExt cx="0" cy="0"/>
        </a:xfrm>
      </p:grpSpPr>
      <p:sp>
        <p:nvSpPr>
          <p:cNvPr id="144" name="Due meduse su sfondo di colore rosa"/>
          <p:cNvSpPr>
            <a:spLocks noGrp="1"/>
          </p:cNvSpPr>
          <p:nvPr>
            <p:ph type="pic" sz="half" idx="21"/>
          </p:nvPr>
        </p:nvSpPr>
        <p:spPr>
          <a:xfrm>
            <a:off x="12192000" y="4813300"/>
            <a:ext cx="12192000" cy="9207945"/>
          </a:xfrm>
          <a:prstGeom prst="rect">
            <a:avLst/>
          </a:prstGeom>
        </p:spPr>
        <p:txBody>
          <a:bodyPr lIns="91439" tIns="45719" rIns="91439" bIns="45719">
            <a:noAutofit/>
          </a:bodyPr>
          <a:lstStyle/>
          <a:p>
            <a:endParaRPr/>
          </a:p>
        </p:txBody>
      </p:sp>
      <p:sp>
        <p:nvSpPr>
          <p:cNvPr id="145" name="Due meduse che si toccano su sfondo di colore blu scuro"/>
          <p:cNvSpPr>
            <a:spLocks noGrp="1"/>
          </p:cNvSpPr>
          <p:nvPr>
            <p:ph type="pic" sz="half" idx="22"/>
          </p:nvPr>
        </p:nvSpPr>
        <p:spPr>
          <a:xfrm>
            <a:off x="12192000" y="-628650"/>
            <a:ext cx="12192000" cy="8128000"/>
          </a:xfrm>
          <a:prstGeom prst="rect">
            <a:avLst/>
          </a:prstGeom>
        </p:spPr>
        <p:txBody>
          <a:bodyPr lIns="91439" tIns="45719" rIns="91439" bIns="45719">
            <a:noAutofit/>
          </a:bodyPr>
          <a:lstStyle/>
          <a:p>
            <a:endParaRPr/>
          </a:p>
        </p:txBody>
      </p:sp>
      <p:sp>
        <p:nvSpPr>
          <p:cNvPr id="146" name="Due meduse su sfondo di colore blu"/>
          <p:cNvSpPr>
            <a:spLocks noGrp="1"/>
          </p:cNvSpPr>
          <p:nvPr>
            <p:ph type="pic" idx="23"/>
          </p:nvPr>
        </p:nvSpPr>
        <p:spPr>
          <a:xfrm>
            <a:off x="-4203700" y="0"/>
            <a:ext cx="20574000" cy="13716000"/>
          </a:xfrm>
          <a:prstGeom prst="rect">
            <a:avLst/>
          </a:prstGeom>
        </p:spPr>
        <p:txBody>
          <a:bodyPr lIns="91439" tIns="45719" rIns="91439" bIns="45719">
            <a:noAutofit/>
          </a:bodyPr>
          <a:lstStyle/>
          <a:p>
            <a:endParaRPr/>
          </a:p>
        </p:txBody>
      </p:sp>
      <p:sp>
        <p:nvSpPr>
          <p:cNvPr id="147"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54" name="Due meduse che si toccano su sfondo di colore blu scuro"/>
          <p:cNvSpPr>
            <a:spLocks noGrp="1"/>
          </p:cNvSpPr>
          <p:nvPr>
            <p:ph type="pic" idx="21"/>
          </p:nvPr>
        </p:nvSpPr>
        <p:spPr>
          <a:xfrm>
            <a:off x="0" y="-1270000"/>
            <a:ext cx="24384000" cy="16256001"/>
          </a:xfrm>
          <a:prstGeom prst="rect">
            <a:avLst/>
          </a:prstGeom>
        </p:spPr>
        <p:txBody>
          <a:bodyPr lIns="91439" tIns="45719" rIns="91439" bIns="45719">
            <a:noAutofit/>
          </a:bodyPr>
          <a:lstStyle/>
          <a:p>
            <a:endParaRPr/>
          </a:p>
        </p:txBody>
      </p:sp>
      <p:sp>
        <p:nvSpPr>
          <p:cNvPr id="155" name="Numero diapositiva"/>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‹N›</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Vuota">
    <p:spTree>
      <p:nvGrpSpPr>
        <p:cNvPr id="1" name=""/>
        <p:cNvGrpSpPr/>
        <p:nvPr/>
      </p:nvGrpSpPr>
      <p:grpSpPr>
        <a:xfrm>
          <a:off x="0" y="0"/>
          <a:ext cx="0" cy="0"/>
          <a:chOff x="0" y="0"/>
          <a:chExt cx="0" cy="0"/>
        </a:xfrm>
      </p:grpSpPr>
      <p:sp>
        <p:nvSpPr>
          <p:cNvPr id="162"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p:cNvSpPr txBox="1">
            <a:spLocks noGrp="1"/>
          </p:cNvSpPr>
          <p:nvPr>
            <p:ph type="title" hasCustomPrompt="1"/>
          </p:nvPr>
        </p:nvSpPr>
        <p:spPr>
          <a:xfrm>
            <a:off x="1270000" y="812800"/>
            <a:ext cx="21844000" cy="15574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p>
            <a:r>
              <a:t>Titolo</a:t>
            </a:r>
          </a:p>
        </p:txBody>
      </p:sp>
      <p:sp>
        <p:nvSpPr>
          <p:cNvPr id="3" name="Corpo livello uno…"/>
          <p:cNvSpPr txBox="1">
            <a:spLocks noGrp="1"/>
          </p:cNvSpPr>
          <p:nvPr>
            <p:ph type="body" idx="1" hasCustomPrompt="1"/>
          </p:nvPr>
        </p:nvSpPr>
        <p:spPr>
          <a:xfrm>
            <a:off x="1270000" y="4267200"/>
            <a:ext cx="21844000" cy="843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Testo elenco puntato diapositiva</a:t>
            </a:r>
          </a:p>
          <a:p>
            <a:pPr lvl="1"/>
            <a:endParaRPr/>
          </a:p>
          <a:p>
            <a:pPr lvl="2"/>
            <a:endParaRPr/>
          </a:p>
          <a:p>
            <a:pPr lvl="3"/>
            <a:endParaRPr/>
          </a:p>
          <a:p>
            <a:pPr lvl="4"/>
            <a:endParaRPr/>
          </a:p>
        </p:txBody>
      </p:sp>
      <p:sp>
        <p:nvSpPr>
          <p:cNvPr id="4" name="Numero diapositiva"/>
          <p:cNvSpPr txBox="1">
            <a:spLocks noGrp="1"/>
          </p:cNvSpPr>
          <p:nvPr>
            <p:ph type="sldNum" sz="quarter" idx="2"/>
          </p:nvPr>
        </p:nvSpPr>
        <p:spPr>
          <a:xfrm>
            <a:off x="11977623" y="13081000"/>
            <a:ext cx="416053" cy="467107"/>
          </a:xfrm>
          <a:prstGeom prst="rect">
            <a:avLst/>
          </a:prstGeom>
          <a:ln w="12700">
            <a:miter lim="400000"/>
          </a:ln>
        </p:spPr>
        <p:txBody>
          <a:bodyPr wrap="none" lIns="50800" tIns="50800" rIns="50800" bIns="50800" anchor="b">
            <a:spAutoFit/>
          </a:bodyPr>
          <a:lstStyle>
            <a:lvl1pPr algn="ctr" defTabSz="825500">
              <a:spcBef>
                <a:spcPts val="0"/>
              </a:spcBef>
              <a:defRPr sz="2200"/>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60" r:id="rId7"/>
    <p:sldLayoutId id="2147483661" r:id="rId8"/>
    <p:sldLayoutId id="2147483662" r:id="rId9"/>
    <p:sldLayoutId id="2147483663" r:id="rId10"/>
    <p:sldLayoutId id="2147483664" r:id="rId11"/>
    <p:sldLayoutId id="2147483665" r:id="rId12"/>
  </p:sldLayoutIdLst>
  <p:transition spd="med"/>
  <p:txStyles>
    <p:titleStyle>
      <a:lvl1pPr marL="0" marR="0" indent="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Graphik Semibold"/>
        </a:defRPr>
      </a:lvl1pPr>
      <a:lvl2pPr marL="0" marR="0" indent="4572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Graphik Semibold"/>
        </a:defRPr>
      </a:lvl2pPr>
      <a:lvl3pPr marL="0" marR="0" indent="9144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Graphik Semibold"/>
        </a:defRPr>
      </a:lvl3pPr>
      <a:lvl4pPr marL="0" marR="0" indent="13716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Graphik Semibold"/>
        </a:defRPr>
      </a:lvl4pPr>
      <a:lvl5pPr marL="0" marR="0" indent="18288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Graphik Semibold"/>
        </a:defRPr>
      </a:lvl5pPr>
      <a:lvl6pPr marL="0" marR="0" indent="22860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Graphik Semibold"/>
        </a:defRPr>
      </a:lvl6pPr>
      <a:lvl7pPr marL="0" marR="0" indent="27432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Graphik Semibold"/>
        </a:defRPr>
      </a:lvl7pPr>
      <a:lvl8pPr marL="0" marR="0" indent="32004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Graphik Semibold"/>
        </a:defRPr>
      </a:lvl8pPr>
      <a:lvl9pPr marL="0" marR="0" indent="36576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Graphik Semibold"/>
        </a:defRPr>
      </a:lvl9pPr>
    </p:titleStyle>
    <p:bodyStyle>
      <a:lvl1pPr marL="558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1pPr>
      <a:lvl2pPr marL="1117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9pPr>
    </p:bodyStyle>
    <p:otherStyle>
      <a:lvl1pPr marL="0" marR="0" indent="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1pPr>
      <a:lvl2pPr marL="0" marR="0" indent="4572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2pPr>
      <a:lvl3pPr marL="0" marR="0" indent="9144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3pPr>
      <a:lvl4pPr marL="0" marR="0" indent="13716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4pPr>
      <a:lvl5pPr marL="0" marR="0" indent="18288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5pPr>
      <a:lvl6pPr marL="0" marR="0" indent="22860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6pPr>
      <a:lvl7pPr marL="0" marR="0" indent="27432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7pPr>
      <a:lvl8pPr marL="0" marR="0" indent="32004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8pPr>
      <a:lvl9pPr marL="0" marR="0" indent="36576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Eco-design Digitale di Base per i servizi ICT"/>
          <p:cNvSpPr txBox="1">
            <a:spLocks noGrp="1"/>
          </p:cNvSpPr>
          <p:nvPr>
            <p:ph type="ctrTitle"/>
          </p:nvPr>
        </p:nvSpPr>
        <p:spPr>
          <a:prstGeom prst="rect">
            <a:avLst/>
          </a:prstGeom>
        </p:spPr>
        <p:txBody>
          <a:bodyPr/>
          <a:lstStyle/>
          <a:p>
            <a:r>
              <a:t>Eco-design Digitale di Base per i servizi ICT</a:t>
            </a:r>
          </a:p>
        </p:txBody>
      </p:sp>
      <p:sp>
        <p:nvSpPr>
          <p:cNvPr id="172" name="Massimo Giaccone, Giugno 2025"/>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Massimo Giaccone, Giugno 2025</a:t>
            </a:r>
          </a:p>
        </p:txBody>
      </p:sp>
      <p:sp>
        <p:nvSpPr>
          <p:cNvPr id="173" name="Programmazione in C e Python"/>
          <p:cNvSpPr txBox="1">
            <a:spLocks noGrp="1"/>
          </p:cNvSpPr>
          <p:nvPr>
            <p:ph type="subTitle" sz="quarter" idx="1"/>
          </p:nvPr>
        </p:nvSpPr>
        <p:spPr>
          <a:prstGeom prst="rect">
            <a:avLst/>
          </a:prstGeom>
        </p:spPr>
        <p:txBody>
          <a:bodyPr/>
          <a:lstStyle/>
          <a:p>
            <a:r>
              <a:t>Programmazione in C e Python</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Obiettivi del corso"/>
          <p:cNvSpPr txBox="1">
            <a:spLocks noGrp="1"/>
          </p:cNvSpPr>
          <p:nvPr>
            <p:ph type="title"/>
          </p:nvPr>
        </p:nvSpPr>
        <p:spPr>
          <a:prstGeom prst="rect">
            <a:avLst/>
          </a:prstGeom>
        </p:spPr>
        <p:txBody>
          <a:bodyPr/>
          <a:lstStyle/>
          <a:p>
            <a:r>
              <a:rPr dirty="0" err="1"/>
              <a:t>Obiettivi</a:t>
            </a:r>
            <a:r>
              <a:rPr dirty="0"/>
              <a:t> de</a:t>
            </a:r>
            <a:r>
              <a:rPr lang="it-IT" dirty="0" err="1"/>
              <a:t>lla</a:t>
            </a:r>
            <a:r>
              <a:rPr lang="it-IT" dirty="0"/>
              <a:t> lezione</a:t>
            </a:r>
            <a:endParaRPr dirty="0"/>
          </a:p>
        </p:txBody>
      </p:sp>
      <p:sp>
        <p:nvSpPr>
          <p:cNvPr id="209" name="Strutture di controllo, funzioni e gestione della memoria (C)…"/>
          <p:cNvSpPr txBox="1">
            <a:spLocks noGrp="1"/>
          </p:cNvSpPr>
          <p:nvPr>
            <p:ph type="body" idx="1"/>
          </p:nvPr>
        </p:nvSpPr>
        <p:spPr>
          <a:prstGeom prst="rect">
            <a:avLst/>
          </a:prstGeom>
        </p:spPr>
        <p:txBody>
          <a:bodyPr/>
          <a:lstStyle/>
          <a:p>
            <a:r>
              <a:rPr lang="it-IT" dirty="0"/>
              <a:t>Introduzione al Web e ai Server</a:t>
            </a:r>
          </a:p>
          <a:p>
            <a:r>
              <a:rPr lang="it-IT" dirty="0"/>
              <a:t>Introduzione ai Web Server con Python</a:t>
            </a:r>
          </a:p>
          <a:p>
            <a:r>
              <a:rPr lang="it-IT" dirty="0" err="1"/>
              <a:t>Flask</a:t>
            </a:r>
            <a:r>
              <a:rPr lang="it-IT" dirty="0"/>
              <a:t>: introduzione e setup</a:t>
            </a:r>
          </a:p>
          <a:p>
            <a:r>
              <a:rPr lang="it-IT" dirty="0"/>
              <a:t>Mini API </a:t>
            </a:r>
            <a:r>
              <a:rPr lang="it-IT" dirty="0" err="1"/>
              <a:t>rest</a:t>
            </a:r>
            <a:endParaRPr lang="it-IT" dirty="0"/>
          </a:p>
          <a:p>
            <a:r>
              <a:rPr lang="it-IT" dirty="0"/>
              <a:t>Applicazioni e reali e </a:t>
            </a:r>
            <a:r>
              <a:rPr lang="it-IT" dirty="0" err="1"/>
              <a:t>deploy</a:t>
            </a:r>
            <a:endParaRPr dirty="0"/>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Linguaggio C"/>
          <p:cNvSpPr txBox="1">
            <a:spLocks noGrp="1"/>
          </p:cNvSpPr>
          <p:nvPr>
            <p:ph type="title"/>
          </p:nvPr>
        </p:nvSpPr>
        <p:spPr>
          <a:prstGeom prst="rect">
            <a:avLst/>
          </a:prstGeom>
        </p:spPr>
        <p:txBody>
          <a:bodyPr/>
          <a:lstStyle/>
          <a:p>
            <a:r>
              <a:rPr lang="it-IT" dirty="0"/>
              <a:t>Il Web e Internet</a:t>
            </a:r>
            <a:endParaRPr dirty="0"/>
          </a:p>
        </p:txBody>
      </p:sp>
      <p:sp>
        <p:nvSpPr>
          <p:cNvPr id="219" name="Cos’è?  Un linguaggio di programmazione compilato, general-purpose e tipizzato staticamente.…"/>
          <p:cNvSpPr txBox="1">
            <a:spLocks noGrp="1"/>
          </p:cNvSpPr>
          <p:nvPr>
            <p:ph type="body" idx="1"/>
          </p:nvPr>
        </p:nvSpPr>
        <p:spPr>
          <a:xfrm>
            <a:off x="1270000" y="2715064"/>
            <a:ext cx="21844000" cy="10722639"/>
          </a:xfrm>
          <a:prstGeom prst="rect">
            <a:avLst/>
          </a:prstGeom>
        </p:spPr>
        <p:txBody>
          <a:bodyPr>
            <a:noAutofit/>
          </a:bodyPr>
          <a:lstStyle/>
          <a:p>
            <a:pPr marL="0" indent="0">
              <a:buNone/>
            </a:pPr>
            <a:r>
              <a:rPr lang="it-IT" sz="6000" b="1" dirty="0"/>
              <a:t>Internet</a:t>
            </a:r>
          </a:p>
          <a:p>
            <a:r>
              <a:rPr lang="it-IT" b="1" dirty="0"/>
              <a:t>Rete globale di computer</a:t>
            </a:r>
            <a:r>
              <a:rPr lang="it-IT" dirty="0"/>
              <a:t> interconnessi</a:t>
            </a:r>
          </a:p>
          <a:p>
            <a:r>
              <a:rPr lang="it-IT" dirty="0"/>
              <a:t>Infrastruttura fisica e logica</a:t>
            </a:r>
          </a:p>
          <a:p>
            <a:r>
              <a:rPr lang="it-IT" dirty="0"/>
              <a:t>Protocolli: TCP/IP, DNS, SMTP, FTP</a:t>
            </a:r>
          </a:p>
          <a:p>
            <a:r>
              <a:rPr lang="it-IT" dirty="0"/>
              <a:t>Nato negli anni '60-70 (ARPANET)</a:t>
            </a:r>
          </a:p>
          <a:p>
            <a:pPr marL="0" indent="0">
              <a:buNone/>
            </a:pPr>
            <a:r>
              <a:rPr lang="it-IT" sz="6000" b="1" dirty="0"/>
              <a:t>World Wide Web</a:t>
            </a:r>
          </a:p>
          <a:p>
            <a:r>
              <a:rPr lang="it-IT" b="1" dirty="0"/>
              <a:t>Servizio</a:t>
            </a:r>
            <a:r>
              <a:rPr lang="it-IT" dirty="0"/>
              <a:t> che gira su Internet</a:t>
            </a:r>
          </a:p>
          <a:p>
            <a:r>
              <a:rPr lang="it-IT" dirty="0"/>
              <a:t>Sistema di documenti ipertestuali</a:t>
            </a:r>
          </a:p>
          <a:p>
            <a:r>
              <a:rPr lang="it-IT" dirty="0"/>
              <a:t>Protocollo HTTP/HTTPS</a:t>
            </a:r>
          </a:p>
          <a:p>
            <a:r>
              <a:rPr lang="it-IT" dirty="0"/>
              <a:t>Inventato da Tim Berners-Lee nel 1989</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D9778-13FC-6938-8547-65845F1D1F4F}"/>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4A19DD87-3B43-2F3B-466D-DCA42639B79E}"/>
              </a:ext>
            </a:extLst>
          </p:cNvPr>
          <p:cNvSpPr txBox="1">
            <a:spLocks noGrp="1"/>
          </p:cNvSpPr>
          <p:nvPr>
            <p:ph type="title"/>
          </p:nvPr>
        </p:nvSpPr>
        <p:spPr>
          <a:prstGeom prst="rect">
            <a:avLst/>
          </a:prstGeom>
        </p:spPr>
        <p:txBody>
          <a:bodyPr/>
          <a:lstStyle/>
          <a:p>
            <a:r>
              <a:rPr lang="it-IT" dirty="0">
                <a:solidFill>
                  <a:schemeClr val="tx1"/>
                </a:solidFill>
              </a:rPr>
              <a:t>Modello Client - Server</a:t>
            </a:r>
            <a:endParaRPr dirty="0">
              <a:solidFill>
                <a:schemeClr val="tx1"/>
              </a:solidFill>
            </a:endParaRPr>
          </a:p>
        </p:txBody>
      </p:sp>
      <p:sp>
        <p:nvSpPr>
          <p:cNvPr id="219" name="Cos’è?  Un linguaggio di programmazione compilato, general-purpose e tipizzato staticamente.…">
            <a:extLst>
              <a:ext uri="{FF2B5EF4-FFF2-40B4-BE49-F238E27FC236}">
                <a16:creationId xmlns:a16="http://schemas.microsoft.com/office/drawing/2014/main" id="{F5D065A1-8D88-12CA-4CD7-C6270E51E8A2}"/>
              </a:ext>
            </a:extLst>
          </p:cNvPr>
          <p:cNvSpPr txBox="1">
            <a:spLocks noGrp="1"/>
          </p:cNvSpPr>
          <p:nvPr>
            <p:ph type="body" sz="half" idx="1"/>
          </p:nvPr>
        </p:nvSpPr>
        <p:spPr>
          <a:prstGeom prst="rect">
            <a:avLst/>
          </a:prstGeom>
        </p:spPr>
        <p:txBody>
          <a:bodyPr>
            <a:noAutofit/>
          </a:bodyPr>
          <a:lstStyle/>
          <a:p>
            <a:pPr marL="0" indent="0">
              <a:buNone/>
            </a:pPr>
            <a:r>
              <a:rPr lang="it-IT" sz="6000" b="1" dirty="0"/>
              <a:t>Client (Cliente)</a:t>
            </a:r>
          </a:p>
          <a:p>
            <a:r>
              <a:rPr lang="it-IT" b="1" dirty="0"/>
              <a:t>Chi richiede</a:t>
            </a:r>
            <a:r>
              <a:rPr lang="it-IT" dirty="0"/>
              <a:t> un servizio</a:t>
            </a:r>
          </a:p>
          <a:p>
            <a:r>
              <a:rPr lang="it-IT" dirty="0"/>
              <a:t>Browser web, app mobile, software</a:t>
            </a:r>
          </a:p>
          <a:p>
            <a:r>
              <a:rPr lang="it-IT" dirty="0"/>
              <a:t>Invia richieste e riceve risposte</a:t>
            </a:r>
          </a:p>
          <a:p>
            <a:r>
              <a:rPr lang="it-IT" dirty="0"/>
              <a:t>Esempi: Firefox, Chrome, Safari</a:t>
            </a:r>
          </a:p>
          <a:p>
            <a:pPr marL="0" indent="0">
              <a:buNone/>
            </a:pPr>
            <a:endParaRPr lang="it-IT" dirty="0"/>
          </a:p>
        </p:txBody>
      </p:sp>
      <p:sp>
        <p:nvSpPr>
          <p:cNvPr id="3" name="Cos’è?  Un linguaggio di programmazione compilato, general-purpose e tipizzato staticamente.…">
            <a:extLst>
              <a:ext uri="{FF2B5EF4-FFF2-40B4-BE49-F238E27FC236}">
                <a16:creationId xmlns:a16="http://schemas.microsoft.com/office/drawing/2014/main" id="{994EA011-C95B-52C4-3EBD-E91697CA3761}"/>
              </a:ext>
            </a:extLst>
          </p:cNvPr>
          <p:cNvSpPr txBox="1">
            <a:spLocks/>
          </p:cNvSpPr>
          <p:nvPr/>
        </p:nvSpPr>
        <p:spPr>
          <a:xfrm>
            <a:off x="13907477" y="4267200"/>
            <a:ext cx="9652000" cy="843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558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1pPr>
            <a:lvl2pPr marL="1117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9pPr>
          </a:lstStyle>
          <a:p>
            <a:pPr marL="0" indent="0" hangingPunct="1">
              <a:buFontTx/>
              <a:buNone/>
            </a:pPr>
            <a:r>
              <a:rPr lang="it-IT" sz="6000" b="1" dirty="0"/>
              <a:t>Server (Servitore)</a:t>
            </a:r>
          </a:p>
          <a:p>
            <a:pPr hangingPunct="1"/>
            <a:r>
              <a:rPr lang="it-IT" b="1" dirty="0"/>
              <a:t>Chi fornisce</a:t>
            </a:r>
            <a:r>
              <a:rPr lang="it-IT" dirty="0"/>
              <a:t> il servizio</a:t>
            </a:r>
          </a:p>
          <a:p>
            <a:pPr hangingPunct="1"/>
            <a:r>
              <a:rPr lang="it-IT" dirty="0"/>
              <a:t>Computer sempre acceso e connesso</a:t>
            </a:r>
          </a:p>
          <a:p>
            <a:pPr hangingPunct="1"/>
            <a:r>
              <a:rPr lang="it-IT" dirty="0"/>
              <a:t>Elabora richieste e invia risposte</a:t>
            </a:r>
          </a:p>
          <a:p>
            <a:pPr hangingPunct="1"/>
            <a:r>
              <a:rPr lang="it-IT" dirty="0"/>
              <a:t>Esempi: Apache, </a:t>
            </a:r>
            <a:r>
              <a:rPr lang="it-IT" dirty="0" err="1"/>
              <a:t>Nginx</a:t>
            </a:r>
            <a:r>
              <a:rPr lang="it-IT" dirty="0"/>
              <a:t>, IIS</a:t>
            </a:r>
          </a:p>
          <a:p>
            <a:pPr marL="0" indent="0" hangingPunct="1">
              <a:buFontTx/>
              <a:buNone/>
            </a:pPr>
            <a:endParaRPr lang="it-IT" dirty="0"/>
          </a:p>
        </p:txBody>
      </p:sp>
    </p:spTree>
    <p:extLst>
      <p:ext uri="{BB962C8B-B14F-4D97-AF65-F5344CB8AC3E}">
        <p14:creationId xmlns:p14="http://schemas.microsoft.com/office/powerpoint/2010/main" val="391653569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BBCC3-98E2-C4A0-BFE4-8D16E0062E4B}"/>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5C47BB19-3FBF-4B5F-589B-2AFEDCF2F2F3}"/>
              </a:ext>
            </a:extLst>
          </p:cNvPr>
          <p:cNvSpPr txBox="1">
            <a:spLocks noGrp="1"/>
          </p:cNvSpPr>
          <p:nvPr>
            <p:ph type="title"/>
          </p:nvPr>
        </p:nvSpPr>
        <p:spPr>
          <a:prstGeom prst="rect">
            <a:avLst/>
          </a:prstGeom>
        </p:spPr>
        <p:txBody>
          <a:bodyPr/>
          <a:lstStyle/>
          <a:p>
            <a:r>
              <a:rPr lang="it-IT" dirty="0"/>
              <a:t>Modello Client - Server</a:t>
            </a:r>
            <a:endParaRPr dirty="0"/>
          </a:p>
        </p:txBody>
      </p:sp>
      <p:sp>
        <p:nvSpPr>
          <p:cNvPr id="219" name="Cos’è?  Un linguaggio di programmazione compilato, general-purpose e tipizzato staticamente.…">
            <a:extLst>
              <a:ext uri="{FF2B5EF4-FFF2-40B4-BE49-F238E27FC236}">
                <a16:creationId xmlns:a16="http://schemas.microsoft.com/office/drawing/2014/main" id="{E7474ECF-A9D4-FAC6-ED9C-C91FEBE4656E}"/>
              </a:ext>
            </a:extLst>
          </p:cNvPr>
          <p:cNvSpPr txBox="1">
            <a:spLocks noGrp="1"/>
          </p:cNvSpPr>
          <p:nvPr>
            <p:ph type="body" idx="1"/>
          </p:nvPr>
        </p:nvSpPr>
        <p:spPr>
          <a:xfrm>
            <a:off x="1270000" y="2641600"/>
            <a:ext cx="21844000" cy="8432800"/>
          </a:xfrm>
          <a:prstGeom prst="rect">
            <a:avLst/>
          </a:prstGeom>
        </p:spPr>
        <p:txBody>
          <a:bodyPr>
            <a:noAutofit/>
          </a:bodyPr>
          <a:lstStyle/>
          <a:p>
            <a:pPr marL="0" indent="0" hangingPunct="1">
              <a:buNone/>
            </a:pPr>
            <a:r>
              <a:rPr lang="it-IT" b="1" dirty="0"/>
              <a:t>Caratteristiche chiave:</a:t>
            </a:r>
            <a:endParaRPr lang="it-IT" dirty="0"/>
          </a:p>
          <a:p>
            <a:pPr hangingPunct="1"/>
            <a:r>
              <a:rPr lang="it-IT" dirty="0"/>
              <a:t>Comunicazione asincrona</a:t>
            </a:r>
          </a:p>
          <a:p>
            <a:pPr hangingPunct="1"/>
            <a:r>
              <a:rPr lang="it-IT" dirty="0"/>
              <a:t>Il server può gestire più client contemporaneamente</a:t>
            </a:r>
          </a:p>
          <a:p>
            <a:pPr hangingPunct="1"/>
            <a:r>
              <a:rPr lang="it-IT" dirty="0"/>
              <a:t>Architettura distribuita</a:t>
            </a:r>
          </a:p>
          <a:p>
            <a:pPr marL="0" indent="0">
              <a:buNone/>
            </a:pPr>
            <a:endParaRPr lang="it-IT" dirty="0"/>
          </a:p>
        </p:txBody>
      </p:sp>
      <p:pic>
        <p:nvPicPr>
          <p:cNvPr id="1026" name="Picture 2" descr="Definizione di sistemi Client/Server">
            <a:extLst>
              <a:ext uri="{FF2B5EF4-FFF2-40B4-BE49-F238E27FC236}">
                <a16:creationId xmlns:a16="http://schemas.microsoft.com/office/drawing/2014/main" id="{6EE69D29-0006-B680-99B5-A736D1F693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8691" y="5722010"/>
            <a:ext cx="12290771" cy="7349881"/>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23DA2DCB-C4A7-F3D2-0231-1696395163C3}"/>
              </a:ext>
            </a:extLst>
          </p:cNvPr>
          <p:cNvSpPr txBox="1"/>
          <p:nvPr/>
        </p:nvSpPr>
        <p:spPr>
          <a:xfrm>
            <a:off x="10832123" y="12751633"/>
            <a:ext cx="6998677" cy="9643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r>
              <a:rPr kumimoji="0" lang="it-IT" sz="3600" b="0" i="1" u="none" strike="noStrike" cap="none" spc="0" normalizeH="0" baseline="0" dirty="0">
                <a:ln>
                  <a:noFill/>
                </a:ln>
                <a:solidFill>
                  <a:srgbClr val="000000"/>
                </a:solidFill>
                <a:effectLst/>
                <a:uFillTx/>
                <a:latin typeface="Graphik"/>
                <a:ea typeface="Graphik"/>
                <a:cs typeface="Graphik"/>
                <a:sym typeface="Graphik"/>
              </a:rPr>
              <a:t>Fonte: </a:t>
            </a:r>
            <a:r>
              <a:rPr kumimoji="0" lang="it-IT" sz="3600" b="0" i="1" u="none" strike="noStrike" cap="none" spc="0" normalizeH="0" baseline="0" dirty="0" err="1">
                <a:ln>
                  <a:noFill/>
                </a:ln>
                <a:solidFill>
                  <a:srgbClr val="000000"/>
                </a:solidFill>
                <a:effectLst/>
                <a:uFillTx/>
                <a:latin typeface="Graphik"/>
                <a:ea typeface="Graphik"/>
                <a:cs typeface="Graphik"/>
                <a:sym typeface="Graphik"/>
              </a:rPr>
              <a:t>automationtomorrow.com</a:t>
            </a:r>
            <a:endParaRPr kumimoji="0" lang="it-IT" sz="3600" b="0" i="1" u="none" strike="noStrike" cap="none" spc="0" normalizeH="0" baseline="0" dirty="0">
              <a:ln>
                <a:noFill/>
              </a:ln>
              <a:solidFill>
                <a:srgbClr val="000000"/>
              </a:solidFill>
              <a:effectLst/>
              <a:uFillTx/>
              <a:latin typeface="Graphik"/>
              <a:ea typeface="Graphik"/>
              <a:cs typeface="Graphik"/>
              <a:sym typeface="Graphik"/>
            </a:endParaRPr>
          </a:p>
        </p:txBody>
      </p:sp>
    </p:spTree>
    <p:extLst>
      <p:ext uri="{BB962C8B-B14F-4D97-AF65-F5344CB8AC3E}">
        <p14:creationId xmlns:p14="http://schemas.microsoft.com/office/powerpoint/2010/main" val="145465638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409B0-91C1-1AB6-B67A-87EAA0AEBC95}"/>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975C9D5D-BCAA-FCED-E859-FBB1C509D164}"/>
              </a:ext>
            </a:extLst>
          </p:cNvPr>
          <p:cNvSpPr txBox="1">
            <a:spLocks noGrp="1"/>
          </p:cNvSpPr>
          <p:nvPr>
            <p:ph type="title"/>
          </p:nvPr>
        </p:nvSpPr>
        <p:spPr>
          <a:prstGeom prst="rect">
            <a:avLst/>
          </a:prstGeom>
        </p:spPr>
        <p:txBody>
          <a:bodyPr/>
          <a:lstStyle/>
          <a:p>
            <a:r>
              <a:rPr lang="it-IT" dirty="0"/>
              <a:t>Anatomia di un URL</a:t>
            </a:r>
            <a:endParaRPr dirty="0"/>
          </a:p>
        </p:txBody>
      </p:sp>
      <p:sp>
        <p:nvSpPr>
          <p:cNvPr id="219" name="Cos’è?  Un linguaggio di programmazione compilato, general-purpose e tipizzato staticamente.…">
            <a:extLst>
              <a:ext uri="{FF2B5EF4-FFF2-40B4-BE49-F238E27FC236}">
                <a16:creationId xmlns:a16="http://schemas.microsoft.com/office/drawing/2014/main" id="{14F0B2EE-2F63-BD08-ABB6-1C958722C444}"/>
              </a:ext>
            </a:extLst>
          </p:cNvPr>
          <p:cNvSpPr txBox="1">
            <a:spLocks noGrp="1"/>
          </p:cNvSpPr>
          <p:nvPr>
            <p:ph type="body" idx="1"/>
          </p:nvPr>
        </p:nvSpPr>
        <p:spPr>
          <a:xfrm>
            <a:off x="1270000" y="2641600"/>
            <a:ext cx="21844000" cy="8432800"/>
          </a:xfrm>
          <a:prstGeom prst="rect">
            <a:avLst/>
          </a:prstGeom>
        </p:spPr>
        <p:txBody>
          <a:bodyPr>
            <a:noAutofit/>
          </a:bodyPr>
          <a:lstStyle/>
          <a:p>
            <a:pPr marL="0" indent="0" algn="ctr">
              <a:buNone/>
            </a:pPr>
            <a:r>
              <a:rPr lang="it-IT" b="1" dirty="0"/>
              <a:t>https://www.example.com:443/products/</a:t>
            </a:r>
            <a:r>
              <a:rPr lang="it-IT" b="1" dirty="0" err="1"/>
              <a:t>shoes?color</a:t>
            </a:r>
            <a:r>
              <a:rPr lang="it-IT" b="1" dirty="0"/>
              <a:t>=</a:t>
            </a:r>
            <a:r>
              <a:rPr lang="it-IT" b="1" dirty="0" err="1"/>
              <a:t>red&amp;size</a:t>
            </a:r>
            <a:r>
              <a:rPr lang="it-IT" b="1" dirty="0"/>
              <a:t>=42#reviews</a:t>
            </a:r>
          </a:p>
          <a:p>
            <a:pPr marL="0" indent="0">
              <a:buNone/>
            </a:pPr>
            <a:r>
              <a:rPr lang="it-IT" sz="5400" b="1" dirty="0"/>
              <a:t>Componenti:</a:t>
            </a:r>
            <a:endParaRPr lang="it-IT" sz="5400" dirty="0"/>
          </a:p>
          <a:p>
            <a:r>
              <a:rPr lang="it-IT" b="1" dirty="0"/>
              <a:t>Protocollo:</a:t>
            </a:r>
            <a:r>
              <a:rPr lang="it-IT" dirty="0"/>
              <a:t> </a:t>
            </a:r>
            <a:r>
              <a:rPr lang="it-IT" i="1" dirty="0"/>
              <a:t>https://</a:t>
            </a:r>
            <a:r>
              <a:rPr lang="it-IT" dirty="0"/>
              <a:t> (come comunicare)</a:t>
            </a:r>
          </a:p>
          <a:p>
            <a:r>
              <a:rPr lang="it-IT" b="1" dirty="0"/>
              <a:t>Dominio:</a:t>
            </a:r>
            <a:r>
              <a:rPr lang="it-IT" dirty="0"/>
              <a:t> </a:t>
            </a:r>
            <a:r>
              <a:rPr lang="it-IT" i="1" dirty="0" err="1"/>
              <a:t>www.example.com</a:t>
            </a:r>
            <a:r>
              <a:rPr lang="it-IT" dirty="0"/>
              <a:t> (dove andare)</a:t>
            </a:r>
          </a:p>
          <a:p>
            <a:r>
              <a:rPr lang="it-IT" b="1" dirty="0"/>
              <a:t>Porta:</a:t>
            </a:r>
            <a:r>
              <a:rPr lang="it-IT" dirty="0"/>
              <a:t> </a:t>
            </a:r>
            <a:r>
              <a:rPr lang="it-IT" i="1" dirty="0"/>
              <a:t>:443</a:t>
            </a:r>
            <a:r>
              <a:rPr lang="it-IT" dirty="0"/>
              <a:t> (quale servizio, opzionale)</a:t>
            </a:r>
          </a:p>
          <a:p>
            <a:r>
              <a:rPr lang="it-IT" b="1" dirty="0"/>
              <a:t>Percorso:</a:t>
            </a:r>
            <a:r>
              <a:rPr lang="it-IT" dirty="0"/>
              <a:t> </a:t>
            </a:r>
            <a:r>
              <a:rPr lang="it-IT" i="1" dirty="0"/>
              <a:t>/products/</a:t>
            </a:r>
            <a:r>
              <a:rPr lang="it-IT" i="1" dirty="0" err="1"/>
              <a:t>shoes</a:t>
            </a:r>
            <a:r>
              <a:rPr lang="it-IT" dirty="0"/>
              <a:t> (cosa cercare)</a:t>
            </a:r>
          </a:p>
          <a:p>
            <a:r>
              <a:rPr lang="it-IT" b="1" dirty="0"/>
              <a:t>Query </a:t>
            </a:r>
            <a:r>
              <a:rPr lang="it-IT" b="1" dirty="0" err="1"/>
              <a:t>string</a:t>
            </a:r>
            <a:r>
              <a:rPr lang="it-IT" b="1" dirty="0"/>
              <a:t>:</a:t>
            </a:r>
            <a:r>
              <a:rPr lang="it-IT" dirty="0"/>
              <a:t> </a:t>
            </a:r>
            <a:r>
              <a:rPr lang="it-IT" i="1" dirty="0"/>
              <a:t>?color=</a:t>
            </a:r>
            <a:r>
              <a:rPr lang="it-IT" i="1" dirty="0" err="1"/>
              <a:t>red&amp;size</a:t>
            </a:r>
            <a:r>
              <a:rPr lang="it-IT" i="1" dirty="0"/>
              <a:t>=42</a:t>
            </a:r>
            <a:r>
              <a:rPr lang="it-IT" dirty="0"/>
              <a:t> (parametri)</a:t>
            </a:r>
          </a:p>
          <a:p>
            <a:r>
              <a:rPr lang="it-IT" b="1" dirty="0" err="1"/>
              <a:t>Fragment</a:t>
            </a:r>
            <a:r>
              <a:rPr lang="it-IT" b="1" dirty="0"/>
              <a:t>:</a:t>
            </a:r>
            <a:r>
              <a:rPr lang="it-IT" dirty="0"/>
              <a:t> </a:t>
            </a:r>
            <a:r>
              <a:rPr lang="it-IT" i="1" dirty="0"/>
              <a:t>#reviews</a:t>
            </a:r>
            <a:r>
              <a:rPr lang="it-IT" dirty="0"/>
              <a:t> (sezione specifica)</a:t>
            </a:r>
          </a:p>
          <a:p>
            <a:r>
              <a:rPr lang="it-IT" b="1" dirty="0"/>
              <a:t>URI vs URL:</a:t>
            </a:r>
            <a:r>
              <a:rPr lang="it-IT" dirty="0"/>
              <a:t> URI è il concetto generale, URL è un tipo specifico di URI che indica la posizione.</a:t>
            </a:r>
          </a:p>
          <a:p>
            <a:pPr marL="0" indent="0">
              <a:buNone/>
            </a:pPr>
            <a:endParaRPr lang="it-IT" dirty="0"/>
          </a:p>
        </p:txBody>
      </p:sp>
    </p:spTree>
    <p:extLst>
      <p:ext uri="{BB962C8B-B14F-4D97-AF65-F5344CB8AC3E}">
        <p14:creationId xmlns:p14="http://schemas.microsoft.com/office/powerpoint/2010/main" val="64530719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14E75-56D5-3621-33E4-CC4F0DB02FF8}"/>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D483604C-2E3C-668A-C8AB-FE386E59E550}"/>
              </a:ext>
            </a:extLst>
          </p:cNvPr>
          <p:cNvSpPr txBox="1">
            <a:spLocks noGrp="1"/>
          </p:cNvSpPr>
          <p:nvPr>
            <p:ph type="title"/>
          </p:nvPr>
        </p:nvSpPr>
        <p:spPr>
          <a:prstGeom prst="rect">
            <a:avLst/>
          </a:prstGeom>
        </p:spPr>
        <p:txBody>
          <a:bodyPr/>
          <a:lstStyle/>
          <a:p>
            <a:r>
              <a:rPr lang="it-IT" dirty="0"/>
              <a:t>Protocollo HTTP</a:t>
            </a:r>
            <a:endParaRPr dirty="0"/>
          </a:p>
        </p:txBody>
      </p:sp>
      <p:sp>
        <p:nvSpPr>
          <p:cNvPr id="219" name="Cos’è?  Un linguaggio di programmazione compilato, general-purpose e tipizzato staticamente.…">
            <a:extLst>
              <a:ext uri="{FF2B5EF4-FFF2-40B4-BE49-F238E27FC236}">
                <a16:creationId xmlns:a16="http://schemas.microsoft.com/office/drawing/2014/main" id="{E99A9E49-0468-65BA-E135-157B4DDFBD29}"/>
              </a:ext>
            </a:extLst>
          </p:cNvPr>
          <p:cNvSpPr txBox="1">
            <a:spLocks noGrp="1"/>
          </p:cNvSpPr>
          <p:nvPr>
            <p:ph type="body" idx="1"/>
          </p:nvPr>
        </p:nvSpPr>
        <p:spPr>
          <a:xfrm>
            <a:off x="1270000" y="2641600"/>
            <a:ext cx="21844000" cy="10261600"/>
          </a:xfrm>
          <a:prstGeom prst="rect">
            <a:avLst/>
          </a:prstGeom>
        </p:spPr>
        <p:txBody>
          <a:bodyPr>
            <a:noAutofit/>
          </a:bodyPr>
          <a:lstStyle/>
          <a:p>
            <a:pPr marL="0" indent="0">
              <a:buNone/>
            </a:pPr>
            <a:r>
              <a:rPr lang="it-IT" sz="6000" b="1" dirty="0"/>
              <a:t>HTTP – </a:t>
            </a:r>
            <a:r>
              <a:rPr lang="it-IT" sz="6000" b="1" dirty="0" err="1"/>
              <a:t>HyperText</a:t>
            </a:r>
            <a:r>
              <a:rPr lang="it-IT" sz="6000" b="1" dirty="0"/>
              <a:t> Transfer </a:t>
            </a:r>
            <a:r>
              <a:rPr lang="it-IT" sz="6000" b="1" dirty="0" err="1"/>
              <a:t>Protocol</a:t>
            </a:r>
            <a:endParaRPr lang="it-IT" sz="6000" b="1" dirty="0"/>
          </a:p>
          <a:p>
            <a:r>
              <a:rPr lang="it-IT" dirty="0"/>
              <a:t>È il </a:t>
            </a:r>
            <a:r>
              <a:rPr lang="it-IT" b="1" dirty="0"/>
              <a:t>protocollo di comunicazione</a:t>
            </a:r>
            <a:r>
              <a:rPr lang="it-IT" dirty="0"/>
              <a:t> usato per trasferire dati tra client (es. browser) e server web su Internet.</a:t>
            </a:r>
          </a:p>
          <a:p>
            <a:r>
              <a:rPr lang="it-IT" dirty="0"/>
              <a:t>2 entità principali:</a:t>
            </a:r>
          </a:p>
          <a:p>
            <a:pPr lvl="1"/>
            <a:r>
              <a:rPr lang="it-IT" b="1" dirty="0"/>
              <a:t>REQUEST</a:t>
            </a:r>
          </a:p>
          <a:p>
            <a:pPr lvl="1"/>
            <a:r>
              <a:rPr lang="it-IT" b="1" dirty="0"/>
              <a:t>RESPONSE</a:t>
            </a:r>
          </a:p>
          <a:p>
            <a:endParaRPr lang="it-IT" b="1" dirty="0"/>
          </a:p>
          <a:p>
            <a:r>
              <a:rPr lang="it-IT" dirty="0"/>
              <a:t>Metodi principali:</a:t>
            </a:r>
          </a:p>
          <a:p>
            <a:pPr lvl="1"/>
            <a:r>
              <a:rPr lang="it-IT" b="1" dirty="0"/>
              <a:t>GET, POST, PUT, DELETE</a:t>
            </a:r>
          </a:p>
          <a:p>
            <a:pPr marL="0" indent="0">
              <a:buNone/>
            </a:pPr>
            <a:endParaRPr lang="it-IT" dirty="0"/>
          </a:p>
        </p:txBody>
      </p:sp>
    </p:spTree>
    <p:extLst>
      <p:ext uri="{BB962C8B-B14F-4D97-AF65-F5344CB8AC3E}">
        <p14:creationId xmlns:p14="http://schemas.microsoft.com/office/powerpoint/2010/main" val="290910499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94ECB-8FCF-6BB5-59AF-F9BEF6A5B1E8}"/>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D17DBE06-127D-6FC9-164E-3E49C22E87DD}"/>
              </a:ext>
            </a:extLst>
          </p:cNvPr>
          <p:cNvSpPr txBox="1">
            <a:spLocks noGrp="1"/>
          </p:cNvSpPr>
          <p:nvPr>
            <p:ph type="title"/>
          </p:nvPr>
        </p:nvSpPr>
        <p:spPr>
          <a:prstGeom prst="rect">
            <a:avLst/>
          </a:prstGeom>
        </p:spPr>
        <p:txBody>
          <a:bodyPr/>
          <a:lstStyle/>
          <a:p>
            <a:r>
              <a:rPr lang="it-IT" dirty="0"/>
              <a:t>Metodi HTTP</a:t>
            </a:r>
            <a:endParaRPr dirty="0"/>
          </a:p>
        </p:txBody>
      </p:sp>
      <p:sp>
        <p:nvSpPr>
          <p:cNvPr id="219" name="Cos’è?  Un linguaggio di programmazione compilato, general-purpose e tipizzato staticamente.…">
            <a:extLst>
              <a:ext uri="{FF2B5EF4-FFF2-40B4-BE49-F238E27FC236}">
                <a16:creationId xmlns:a16="http://schemas.microsoft.com/office/drawing/2014/main" id="{87840C24-E705-7C36-63B3-6ED4A501FACD}"/>
              </a:ext>
            </a:extLst>
          </p:cNvPr>
          <p:cNvSpPr txBox="1">
            <a:spLocks noGrp="1"/>
          </p:cNvSpPr>
          <p:nvPr>
            <p:ph type="body" idx="1"/>
          </p:nvPr>
        </p:nvSpPr>
        <p:spPr>
          <a:xfrm>
            <a:off x="1270000" y="2641600"/>
            <a:ext cx="21844000" cy="10261600"/>
          </a:xfrm>
          <a:prstGeom prst="rect">
            <a:avLst/>
          </a:prstGeom>
        </p:spPr>
        <p:txBody>
          <a:bodyPr>
            <a:noAutofit/>
          </a:bodyPr>
          <a:lstStyle/>
          <a:p>
            <a:pPr marL="0" indent="0">
              <a:buNone/>
            </a:pPr>
            <a:r>
              <a:rPr lang="it-IT" sz="6000" b="1" dirty="0"/>
              <a:t>HTTP – </a:t>
            </a:r>
            <a:r>
              <a:rPr lang="it-IT" sz="6000" b="1" dirty="0" err="1"/>
              <a:t>HyperText</a:t>
            </a:r>
            <a:r>
              <a:rPr lang="it-IT" sz="6000" b="1" dirty="0"/>
              <a:t> Transfer </a:t>
            </a:r>
            <a:r>
              <a:rPr lang="it-IT" sz="6000" b="1" dirty="0" err="1"/>
              <a:t>Protocol</a:t>
            </a:r>
            <a:endParaRPr lang="it-IT" sz="6000" b="1" dirty="0"/>
          </a:p>
          <a:p>
            <a:pPr marL="0" indent="0">
              <a:buNone/>
            </a:pPr>
            <a:r>
              <a:rPr lang="it-IT" b="1" dirty="0"/>
              <a:t>Metodi Principali</a:t>
            </a:r>
          </a:p>
          <a:p>
            <a:r>
              <a:rPr lang="it-IT" b="1" dirty="0"/>
              <a:t>GET:</a:t>
            </a:r>
            <a:r>
              <a:rPr lang="it-IT" dirty="0"/>
              <a:t> Recupera dati (sicuro, idempotente)</a:t>
            </a:r>
          </a:p>
          <a:p>
            <a:r>
              <a:rPr lang="it-IT" b="1" dirty="0"/>
              <a:t>POST:</a:t>
            </a:r>
            <a:r>
              <a:rPr lang="it-IT" dirty="0"/>
              <a:t> Crea nuove risorse (non idempotente)</a:t>
            </a:r>
          </a:p>
          <a:p>
            <a:r>
              <a:rPr lang="it-IT" b="1" dirty="0"/>
              <a:t>PUT:</a:t>
            </a:r>
            <a:r>
              <a:rPr lang="it-IT" dirty="0"/>
              <a:t> Aggiorna/sostituisce risorse (idempotente)</a:t>
            </a:r>
          </a:p>
          <a:p>
            <a:r>
              <a:rPr lang="it-IT" b="1" dirty="0"/>
              <a:t>DELETE:</a:t>
            </a:r>
            <a:r>
              <a:rPr lang="it-IT" dirty="0"/>
              <a:t> Elimina risorse (idempotente)</a:t>
            </a:r>
          </a:p>
          <a:p>
            <a:pPr marL="0" indent="0">
              <a:buNone/>
            </a:pPr>
            <a:r>
              <a:rPr lang="it-IT" b="1" dirty="0"/>
              <a:t>Altri Metodi</a:t>
            </a:r>
          </a:p>
          <a:p>
            <a:r>
              <a:rPr lang="it-IT" b="1" dirty="0"/>
              <a:t>HEAD:</a:t>
            </a:r>
            <a:r>
              <a:rPr lang="it-IT" dirty="0"/>
              <a:t> Come GET ma solo </a:t>
            </a:r>
            <a:r>
              <a:rPr lang="it-IT" dirty="0" err="1"/>
              <a:t>headers</a:t>
            </a:r>
            <a:endParaRPr lang="it-IT" dirty="0"/>
          </a:p>
          <a:p>
            <a:r>
              <a:rPr lang="it-IT" b="1" dirty="0"/>
              <a:t>PATCH:</a:t>
            </a:r>
            <a:r>
              <a:rPr lang="it-IT" dirty="0"/>
              <a:t> Aggiornamento parziale</a:t>
            </a:r>
          </a:p>
          <a:p>
            <a:r>
              <a:rPr lang="it-IT" b="1" dirty="0"/>
              <a:t>OPTIONS:</a:t>
            </a:r>
            <a:r>
              <a:rPr lang="it-IT" dirty="0"/>
              <a:t> Scopre metodi supportati</a:t>
            </a:r>
          </a:p>
        </p:txBody>
      </p:sp>
    </p:spTree>
    <p:extLst>
      <p:ext uri="{BB962C8B-B14F-4D97-AF65-F5344CB8AC3E}">
        <p14:creationId xmlns:p14="http://schemas.microsoft.com/office/powerpoint/2010/main" val="245184517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5C4E0-3681-4B1A-DBB3-918500264920}"/>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1F895ED6-63B2-B57B-B355-80D8DB684791}"/>
              </a:ext>
            </a:extLst>
          </p:cNvPr>
          <p:cNvSpPr txBox="1">
            <a:spLocks noGrp="1"/>
          </p:cNvSpPr>
          <p:nvPr>
            <p:ph type="title"/>
          </p:nvPr>
        </p:nvSpPr>
        <p:spPr>
          <a:prstGeom prst="rect">
            <a:avLst/>
          </a:prstGeom>
        </p:spPr>
        <p:txBody>
          <a:bodyPr/>
          <a:lstStyle/>
          <a:p>
            <a:r>
              <a:rPr lang="it-IT" dirty="0"/>
              <a:t>Richiesta HTTP</a:t>
            </a:r>
            <a:endParaRPr dirty="0"/>
          </a:p>
        </p:txBody>
      </p:sp>
      <p:sp>
        <p:nvSpPr>
          <p:cNvPr id="219" name="Cos’è?  Un linguaggio di programmazione compilato, general-purpose e tipizzato staticamente.…">
            <a:extLst>
              <a:ext uri="{FF2B5EF4-FFF2-40B4-BE49-F238E27FC236}">
                <a16:creationId xmlns:a16="http://schemas.microsoft.com/office/drawing/2014/main" id="{C973DAED-3CCC-AFDA-43C7-4550FFEB5647}"/>
              </a:ext>
            </a:extLst>
          </p:cNvPr>
          <p:cNvSpPr txBox="1">
            <a:spLocks noGrp="1"/>
          </p:cNvSpPr>
          <p:nvPr>
            <p:ph type="body" idx="1"/>
          </p:nvPr>
        </p:nvSpPr>
        <p:spPr>
          <a:xfrm>
            <a:off x="1270000" y="2641600"/>
            <a:ext cx="21844000" cy="10261600"/>
          </a:xfrm>
          <a:prstGeom prst="rect">
            <a:avLst/>
          </a:prstGeom>
        </p:spPr>
        <p:txBody>
          <a:bodyPr>
            <a:noAutofit/>
          </a:bodyPr>
          <a:lstStyle/>
          <a:p>
            <a:pPr marL="0" indent="0">
              <a:buNone/>
            </a:pPr>
            <a:r>
              <a:rPr lang="it-IT" b="1" dirty="0"/>
              <a:t>Componenti:</a:t>
            </a:r>
            <a:endParaRPr lang="it-IT" dirty="0"/>
          </a:p>
          <a:p>
            <a:r>
              <a:rPr lang="it-IT" b="1" dirty="0" err="1"/>
              <a:t>Request</a:t>
            </a:r>
            <a:r>
              <a:rPr lang="it-IT" b="1" dirty="0"/>
              <a:t> Line:</a:t>
            </a:r>
            <a:r>
              <a:rPr lang="it-IT" dirty="0"/>
              <a:t> metodo, percorso, versione HTTP</a:t>
            </a:r>
          </a:p>
          <a:p>
            <a:r>
              <a:rPr lang="it-IT" b="1" dirty="0" err="1"/>
              <a:t>Headers</a:t>
            </a:r>
            <a:r>
              <a:rPr lang="it-IT" b="1" dirty="0"/>
              <a:t>:</a:t>
            </a:r>
            <a:r>
              <a:rPr lang="it-IT" dirty="0"/>
              <a:t> metadati della richiesta</a:t>
            </a:r>
          </a:p>
          <a:p>
            <a:r>
              <a:rPr lang="it-IT" b="1" dirty="0"/>
              <a:t>Body:</a:t>
            </a:r>
            <a:r>
              <a:rPr lang="it-IT" dirty="0"/>
              <a:t> dati aggiuntivi (opzionale per GET)</a:t>
            </a:r>
          </a:p>
          <a:p>
            <a:r>
              <a:rPr lang="it-IT" b="1" dirty="0" err="1"/>
              <a:t>Headers</a:t>
            </a:r>
            <a:r>
              <a:rPr lang="it-IT" b="1" dirty="0"/>
              <a:t> comuni:</a:t>
            </a:r>
            <a:r>
              <a:rPr lang="it-IT" dirty="0"/>
              <a:t> Host, User-Agent, </a:t>
            </a:r>
            <a:r>
              <a:rPr lang="it-IT" dirty="0" err="1"/>
              <a:t>Accept</a:t>
            </a:r>
            <a:r>
              <a:rPr lang="it-IT" dirty="0"/>
              <a:t>, Content-</a:t>
            </a:r>
            <a:r>
              <a:rPr lang="it-IT" dirty="0" err="1"/>
              <a:t>Type</a:t>
            </a:r>
            <a:r>
              <a:rPr lang="it-IT" dirty="0"/>
              <a:t>, </a:t>
            </a:r>
            <a:r>
              <a:rPr lang="it-IT" dirty="0" err="1"/>
              <a:t>Authorizatio</a:t>
            </a:r>
            <a:endParaRPr lang="it-IT" dirty="0"/>
          </a:p>
          <a:p>
            <a:pPr marL="0" indent="0">
              <a:buNone/>
            </a:pPr>
            <a:endParaRPr lang="it-IT" dirty="0"/>
          </a:p>
        </p:txBody>
      </p:sp>
      <p:pic>
        <p:nvPicPr>
          <p:cNvPr id="3" name="Immagine 2" descr="Immagine che contiene testo, Carattere, schermata&#10;&#10;Il contenuto generato dall'IA potrebbe non essere corretto.">
            <a:extLst>
              <a:ext uri="{FF2B5EF4-FFF2-40B4-BE49-F238E27FC236}">
                <a16:creationId xmlns:a16="http://schemas.microsoft.com/office/drawing/2014/main" id="{4A09F0C7-DAD7-2187-FF1E-AF22EEBAAE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6021" y="7760395"/>
            <a:ext cx="18271958" cy="5955605"/>
          </a:xfrm>
          <a:prstGeom prst="rect">
            <a:avLst/>
          </a:prstGeom>
        </p:spPr>
      </p:pic>
    </p:spTree>
    <p:extLst>
      <p:ext uri="{BB962C8B-B14F-4D97-AF65-F5344CB8AC3E}">
        <p14:creationId xmlns:p14="http://schemas.microsoft.com/office/powerpoint/2010/main" val="98388355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3FAEE-1B2C-BD31-A144-ED067A277D80}"/>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2F0F4B18-0A47-119B-ED0B-605D15E9F940}"/>
              </a:ext>
            </a:extLst>
          </p:cNvPr>
          <p:cNvSpPr txBox="1">
            <a:spLocks noGrp="1"/>
          </p:cNvSpPr>
          <p:nvPr>
            <p:ph type="title"/>
          </p:nvPr>
        </p:nvSpPr>
        <p:spPr>
          <a:prstGeom prst="rect">
            <a:avLst/>
          </a:prstGeom>
        </p:spPr>
        <p:txBody>
          <a:bodyPr/>
          <a:lstStyle/>
          <a:p>
            <a:r>
              <a:rPr lang="it-IT" dirty="0"/>
              <a:t>Risposta HTTP</a:t>
            </a:r>
            <a:endParaRPr dirty="0"/>
          </a:p>
        </p:txBody>
      </p:sp>
      <p:sp>
        <p:nvSpPr>
          <p:cNvPr id="219" name="Cos’è?  Un linguaggio di programmazione compilato, general-purpose e tipizzato staticamente.…">
            <a:extLst>
              <a:ext uri="{FF2B5EF4-FFF2-40B4-BE49-F238E27FC236}">
                <a16:creationId xmlns:a16="http://schemas.microsoft.com/office/drawing/2014/main" id="{39155417-925B-45CE-6623-D8B6F3F0C53C}"/>
              </a:ext>
            </a:extLst>
          </p:cNvPr>
          <p:cNvSpPr txBox="1">
            <a:spLocks noGrp="1"/>
          </p:cNvSpPr>
          <p:nvPr>
            <p:ph type="body" idx="1"/>
          </p:nvPr>
        </p:nvSpPr>
        <p:spPr>
          <a:xfrm>
            <a:off x="1270000" y="2641600"/>
            <a:ext cx="21844000" cy="10261600"/>
          </a:xfrm>
          <a:prstGeom prst="rect">
            <a:avLst/>
          </a:prstGeom>
        </p:spPr>
        <p:txBody>
          <a:bodyPr>
            <a:noAutofit/>
          </a:bodyPr>
          <a:lstStyle/>
          <a:p>
            <a:pPr marL="0" indent="0">
              <a:buNone/>
            </a:pPr>
            <a:r>
              <a:rPr lang="it-IT" b="1" dirty="0"/>
              <a:t>Componenti:</a:t>
            </a:r>
            <a:endParaRPr lang="it-IT" dirty="0"/>
          </a:p>
          <a:p>
            <a:r>
              <a:rPr lang="it-IT" b="1" dirty="0"/>
              <a:t>Status Line:</a:t>
            </a:r>
            <a:r>
              <a:rPr lang="it-IT" dirty="0"/>
              <a:t> versione HTTP, codice stato, messaggio</a:t>
            </a:r>
          </a:p>
          <a:p>
            <a:r>
              <a:rPr lang="it-IT" b="1" dirty="0" err="1"/>
              <a:t>Headers</a:t>
            </a:r>
            <a:r>
              <a:rPr lang="it-IT" b="1" dirty="0"/>
              <a:t>:</a:t>
            </a:r>
            <a:r>
              <a:rPr lang="it-IT" dirty="0"/>
              <a:t> metadati della risposta</a:t>
            </a:r>
          </a:p>
          <a:p>
            <a:r>
              <a:rPr lang="it-IT" b="1" dirty="0"/>
              <a:t>Body:</a:t>
            </a:r>
            <a:r>
              <a:rPr lang="it-IT" dirty="0"/>
              <a:t> contenuto effettivo</a:t>
            </a:r>
          </a:p>
          <a:p>
            <a:pPr marL="0" indent="0">
              <a:buNone/>
            </a:pPr>
            <a:endParaRPr lang="it-IT" dirty="0"/>
          </a:p>
        </p:txBody>
      </p:sp>
      <p:pic>
        <p:nvPicPr>
          <p:cNvPr id="4" name="Immagine 3" descr="Immagine che contiene testo, schermata, Carattere&#10;&#10;Il contenuto generato dall'IA potrebbe non essere corretto.">
            <a:extLst>
              <a:ext uri="{FF2B5EF4-FFF2-40B4-BE49-F238E27FC236}">
                <a16:creationId xmlns:a16="http://schemas.microsoft.com/office/drawing/2014/main" id="{5FB8C933-655A-E0FC-52D4-BEFC879D2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0" y="5495663"/>
            <a:ext cx="9652668" cy="8220337"/>
          </a:xfrm>
          <a:prstGeom prst="rect">
            <a:avLst/>
          </a:prstGeom>
        </p:spPr>
      </p:pic>
    </p:spTree>
    <p:extLst>
      <p:ext uri="{BB962C8B-B14F-4D97-AF65-F5344CB8AC3E}">
        <p14:creationId xmlns:p14="http://schemas.microsoft.com/office/powerpoint/2010/main" val="19374573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EA12E-A82B-8322-4727-41E7DA4DCEF7}"/>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53269868-DA1B-6ADD-99B1-E34152F39419}"/>
              </a:ext>
            </a:extLst>
          </p:cNvPr>
          <p:cNvSpPr txBox="1">
            <a:spLocks noGrp="1"/>
          </p:cNvSpPr>
          <p:nvPr>
            <p:ph type="title"/>
          </p:nvPr>
        </p:nvSpPr>
        <p:spPr>
          <a:prstGeom prst="rect">
            <a:avLst/>
          </a:prstGeom>
        </p:spPr>
        <p:txBody>
          <a:bodyPr/>
          <a:lstStyle/>
          <a:p>
            <a:r>
              <a:rPr lang="it-IT" dirty="0"/>
              <a:t>Ciclo di una richiesta HTTP</a:t>
            </a:r>
            <a:endParaRPr dirty="0"/>
          </a:p>
        </p:txBody>
      </p:sp>
      <p:sp>
        <p:nvSpPr>
          <p:cNvPr id="219" name="Cos’è?  Un linguaggio di programmazione compilato, general-purpose e tipizzato staticamente.…">
            <a:extLst>
              <a:ext uri="{FF2B5EF4-FFF2-40B4-BE49-F238E27FC236}">
                <a16:creationId xmlns:a16="http://schemas.microsoft.com/office/drawing/2014/main" id="{D5A3B2F1-5EDC-AC39-08D4-F72B1B547296}"/>
              </a:ext>
            </a:extLst>
          </p:cNvPr>
          <p:cNvSpPr txBox="1">
            <a:spLocks noGrp="1"/>
          </p:cNvSpPr>
          <p:nvPr>
            <p:ph type="body" idx="1"/>
          </p:nvPr>
        </p:nvSpPr>
        <p:spPr>
          <a:xfrm>
            <a:off x="1270000" y="2641600"/>
            <a:ext cx="21844000" cy="10261600"/>
          </a:xfrm>
          <a:prstGeom prst="rect">
            <a:avLst/>
          </a:prstGeom>
        </p:spPr>
        <p:txBody>
          <a:bodyPr>
            <a:noAutofit/>
          </a:bodyPr>
          <a:lstStyle/>
          <a:p>
            <a:pPr marL="0" indent="0">
              <a:buNone/>
            </a:pPr>
            <a:r>
              <a:rPr lang="it-IT" sz="6000" b="1" dirty="0"/>
              <a:t>Flusso della Richiesta</a:t>
            </a:r>
          </a:p>
          <a:p>
            <a:pPr marL="914400" indent="-914400">
              <a:buFont typeface="+mj-lt"/>
              <a:buAutoNum type="arabicPeriod"/>
            </a:pPr>
            <a:r>
              <a:rPr lang="it-IT" b="1" dirty="0"/>
              <a:t>Client</a:t>
            </a:r>
            <a:r>
              <a:rPr lang="it-IT" dirty="0"/>
              <a:t> digita URL o clicca link</a:t>
            </a:r>
          </a:p>
          <a:p>
            <a:pPr marL="914400" indent="-914400">
              <a:buFont typeface="+mj-lt"/>
              <a:buAutoNum type="arabicPeriod"/>
            </a:pPr>
            <a:r>
              <a:rPr lang="it-IT" b="1" dirty="0"/>
              <a:t>DNS</a:t>
            </a:r>
            <a:r>
              <a:rPr lang="it-IT" dirty="0"/>
              <a:t> risolve il nome in indirizzo IP</a:t>
            </a:r>
          </a:p>
          <a:p>
            <a:pPr marL="914400" indent="-914400">
              <a:buFont typeface="+mj-lt"/>
              <a:buAutoNum type="arabicPeriod"/>
            </a:pPr>
            <a:r>
              <a:rPr lang="it-IT" b="1" dirty="0"/>
              <a:t>Connessione TCP</a:t>
            </a:r>
            <a:r>
              <a:rPr lang="it-IT" dirty="0"/>
              <a:t> stabilita con il server</a:t>
            </a:r>
          </a:p>
          <a:p>
            <a:pPr marL="914400" indent="-914400">
              <a:buFont typeface="+mj-lt"/>
              <a:buAutoNum type="arabicPeriod"/>
            </a:pPr>
            <a:r>
              <a:rPr lang="it-IT" b="1" dirty="0"/>
              <a:t>Richiesta HTTP</a:t>
            </a:r>
            <a:r>
              <a:rPr lang="it-IT" dirty="0"/>
              <a:t> inviata al server</a:t>
            </a:r>
          </a:p>
          <a:p>
            <a:pPr marL="914400" indent="-914400">
              <a:buFont typeface="+mj-lt"/>
              <a:buAutoNum type="arabicPeriod"/>
            </a:pPr>
            <a:r>
              <a:rPr lang="it-IT" b="1" dirty="0"/>
              <a:t>Server</a:t>
            </a:r>
            <a:r>
              <a:rPr lang="it-IT" dirty="0"/>
              <a:t> elabora la richiesta</a:t>
            </a:r>
          </a:p>
          <a:p>
            <a:pPr marL="914400" indent="-914400">
              <a:buFont typeface="+mj-lt"/>
              <a:buAutoNum type="arabicPeriod"/>
            </a:pPr>
            <a:r>
              <a:rPr lang="it-IT" b="1" dirty="0"/>
              <a:t>Risposta HTTP</a:t>
            </a:r>
            <a:r>
              <a:rPr lang="it-IT" dirty="0"/>
              <a:t> inviata al client</a:t>
            </a:r>
          </a:p>
          <a:p>
            <a:pPr marL="914400" indent="-914400">
              <a:buFont typeface="+mj-lt"/>
              <a:buAutoNum type="arabicPeriod"/>
            </a:pPr>
            <a:r>
              <a:rPr lang="it-IT" b="1" dirty="0"/>
              <a:t>Client</a:t>
            </a:r>
            <a:r>
              <a:rPr lang="it-IT" dirty="0"/>
              <a:t> riceve e visualizza il contenuto</a:t>
            </a:r>
          </a:p>
          <a:p>
            <a:r>
              <a:rPr lang="it-IT" b="1" dirty="0"/>
              <a:t>Tempo tipico:</a:t>
            </a:r>
            <a:r>
              <a:rPr lang="it-IT" dirty="0"/>
              <a:t> 50-200ms per una richiesta locale, 200-1000ms per richieste intercontinentali.</a:t>
            </a:r>
          </a:p>
          <a:p>
            <a:pPr marL="0" indent="0">
              <a:buNone/>
            </a:pPr>
            <a:endParaRPr lang="it-IT" dirty="0"/>
          </a:p>
        </p:txBody>
      </p:sp>
    </p:spTree>
    <p:extLst>
      <p:ext uri="{BB962C8B-B14F-4D97-AF65-F5344CB8AC3E}">
        <p14:creationId xmlns:p14="http://schemas.microsoft.com/office/powerpoint/2010/main" val="354319460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8E98E-BBF3-3A5C-7FBC-2AB57A69C9CA}"/>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4A25C474-006D-6DBF-A5D6-012F189FCBE5}"/>
              </a:ext>
            </a:extLst>
          </p:cNvPr>
          <p:cNvSpPr txBox="1">
            <a:spLocks noGrp="1"/>
          </p:cNvSpPr>
          <p:nvPr>
            <p:ph type="title"/>
          </p:nvPr>
        </p:nvSpPr>
        <p:spPr>
          <a:prstGeom prst="rect">
            <a:avLst/>
          </a:prstGeom>
        </p:spPr>
        <p:txBody>
          <a:bodyPr/>
          <a:lstStyle/>
          <a:p>
            <a:r>
              <a:rPr lang="it-IT" dirty="0"/>
              <a:t>Status Code HTTP</a:t>
            </a:r>
          </a:p>
        </p:txBody>
      </p:sp>
      <p:sp>
        <p:nvSpPr>
          <p:cNvPr id="219" name="Cos’è?  Un linguaggio di programmazione compilato, general-purpose e tipizzato staticamente.…">
            <a:extLst>
              <a:ext uri="{FF2B5EF4-FFF2-40B4-BE49-F238E27FC236}">
                <a16:creationId xmlns:a16="http://schemas.microsoft.com/office/drawing/2014/main" id="{B92621C7-C56B-668F-0E56-4F28B502DA07}"/>
              </a:ext>
            </a:extLst>
          </p:cNvPr>
          <p:cNvSpPr txBox="1">
            <a:spLocks noGrp="1"/>
          </p:cNvSpPr>
          <p:nvPr>
            <p:ph type="body" idx="1"/>
          </p:nvPr>
        </p:nvSpPr>
        <p:spPr>
          <a:xfrm>
            <a:off x="1270000" y="2370237"/>
            <a:ext cx="21844000" cy="10261600"/>
          </a:xfrm>
          <a:prstGeom prst="rect">
            <a:avLst/>
          </a:prstGeom>
        </p:spPr>
        <p:txBody>
          <a:bodyPr>
            <a:noAutofit/>
          </a:bodyPr>
          <a:lstStyle/>
          <a:p>
            <a:pPr marL="0" indent="0">
              <a:buNone/>
            </a:pPr>
            <a:r>
              <a:rPr lang="it-IT" dirty="0"/>
              <a:t> </a:t>
            </a:r>
            <a:r>
              <a:rPr lang="it-IT" b="1" dirty="0"/>
              <a:t>Categorie di Status Code</a:t>
            </a:r>
          </a:p>
          <a:p>
            <a:r>
              <a:rPr lang="it-IT" b="1" dirty="0"/>
              <a:t>1xx:</a:t>
            </a:r>
            <a:r>
              <a:rPr lang="it-IT" dirty="0"/>
              <a:t> </a:t>
            </a:r>
            <a:r>
              <a:rPr lang="it-IT" dirty="0" err="1"/>
              <a:t>Informational</a:t>
            </a:r>
            <a:r>
              <a:rPr lang="it-IT" dirty="0"/>
              <a:t> (100 Continue)</a:t>
            </a:r>
          </a:p>
          <a:p>
            <a:r>
              <a:rPr lang="it-IT" b="1" dirty="0"/>
              <a:t>2xx:</a:t>
            </a:r>
            <a:r>
              <a:rPr lang="it-IT" dirty="0"/>
              <a:t> Success (200 OK, 201 </a:t>
            </a:r>
            <a:r>
              <a:rPr lang="it-IT" dirty="0" err="1"/>
              <a:t>Created</a:t>
            </a:r>
            <a:r>
              <a:rPr lang="it-IT" dirty="0"/>
              <a:t>)</a:t>
            </a:r>
          </a:p>
          <a:p>
            <a:r>
              <a:rPr lang="it-IT" b="1" dirty="0"/>
              <a:t>3xx:</a:t>
            </a:r>
            <a:r>
              <a:rPr lang="it-IT" dirty="0"/>
              <a:t> </a:t>
            </a:r>
            <a:r>
              <a:rPr lang="it-IT" dirty="0" err="1"/>
              <a:t>Redirection</a:t>
            </a:r>
            <a:r>
              <a:rPr lang="it-IT" dirty="0"/>
              <a:t> (301 </a:t>
            </a:r>
            <a:r>
              <a:rPr lang="it-IT" dirty="0" err="1"/>
              <a:t>Moved</a:t>
            </a:r>
            <a:r>
              <a:rPr lang="it-IT" dirty="0"/>
              <a:t>, 304 Not </a:t>
            </a:r>
            <a:r>
              <a:rPr lang="it-IT" dirty="0" err="1"/>
              <a:t>Modified</a:t>
            </a:r>
            <a:r>
              <a:rPr lang="it-IT" dirty="0"/>
              <a:t>)</a:t>
            </a:r>
          </a:p>
          <a:p>
            <a:r>
              <a:rPr lang="it-IT" b="1" dirty="0"/>
              <a:t>4xx:</a:t>
            </a:r>
            <a:r>
              <a:rPr lang="it-IT" dirty="0"/>
              <a:t> Client </a:t>
            </a:r>
            <a:r>
              <a:rPr lang="it-IT" dirty="0" err="1"/>
              <a:t>Error</a:t>
            </a:r>
            <a:r>
              <a:rPr lang="it-IT" dirty="0"/>
              <a:t> (400 </a:t>
            </a:r>
            <a:r>
              <a:rPr lang="it-IT" dirty="0" err="1"/>
              <a:t>Bad</a:t>
            </a:r>
            <a:r>
              <a:rPr lang="it-IT" dirty="0"/>
              <a:t> </a:t>
            </a:r>
            <a:r>
              <a:rPr lang="it-IT" dirty="0" err="1"/>
              <a:t>Request</a:t>
            </a:r>
            <a:r>
              <a:rPr lang="it-IT" dirty="0"/>
              <a:t>, 404 Not </a:t>
            </a:r>
            <a:r>
              <a:rPr lang="it-IT" dirty="0" err="1"/>
              <a:t>Found</a:t>
            </a:r>
            <a:r>
              <a:rPr lang="it-IT" dirty="0"/>
              <a:t>, 401 </a:t>
            </a:r>
            <a:r>
              <a:rPr lang="it-IT" dirty="0" err="1"/>
              <a:t>Unauthorized</a:t>
            </a:r>
            <a:r>
              <a:rPr lang="it-IT" dirty="0"/>
              <a:t>)</a:t>
            </a:r>
          </a:p>
          <a:p>
            <a:r>
              <a:rPr lang="it-IT" b="1" dirty="0"/>
              <a:t>5xx:</a:t>
            </a:r>
            <a:r>
              <a:rPr lang="it-IT" dirty="0"/>
              <a:t> Server </a:t>
            </a:r>
            <a:r>
              <a:rPr lang="it-IT" dirty="0" err="1"/>
              <a:t>Error</a:t>
            </a:r>
            <a:r>
              <a:rPr lang="it-IT" dirty="0"/>
              <a:t> (500 </a:t>
            </a:r>
            <a:r>
              <a:rPr lang="it-IT" dirty="0" err="1"/>
              <a:t>Internal</a:t>
            </a:r>
            <a:r>
              <a:rPr lang="it-IT" dirty="0"/>
              <a:t> </a:t>
            </a:r>
            <a:r>
              <a:rPr lang="it-IT" dirty="0" err="1"/>
              <a:t>Error</a:t>
            </a:r>
            <a:r>
              <a:rPr lang="it-IT" dirty="0"/>
              <a:t>, 503 Service </a:t>
            </a:r>
            <a:r>
              <a:rPr lang="it-IT" dirty="0" err="1"/>
              <a:t>Unavailable</a:t>
            </a:r>
            <a:r>
              <a:rPr lang="it-IT" dirty="0"/>
              <a:t>)</a:t>
            </a:r>
          </a:p>
          <a:p>
            <a:pPr marL="0" indent="0">
              <a:buNone/>
            </a:pPr>
            <a:r>
              <a:rPr lang="it-IT" b="1" dirty="0"/>
              <a:t>I Più Comuni</a:t>
            </a:r>
          </a:p>
          <a:p>
            <a:r>
              <a:rPr lang="it-IT" b="1" dirty="0"/>
              <a:t>200 OK:</a:t>
            </a:r>
            <a:r>
              <a:rPr lang="it-IT" dirty="0"/>
              <a:t> Tutto perfetto</a:t>
            </a:r>
          </a:p>
          <a:p>
            <a:r>
              <a:rPr lang="it-IT" b="1" dirty="0"/>
              <a:t>404 Not </a:t>
            </a:r>
            <a:r>
              <a:rPr lang="it-IT" b="1" dirty="0" err="1"/>
              <a:t>Found</a:t>
            </a:r>
            <a:r>
              <a:rPr lang="it-IT" b="1" dirty="0"/>
              <a:t>:</a:t>
            </a:r>
            <a:r>
              <a:rPr lang="it-IT" dirty="0"/>
              <a:t> Risorsa non trovata</a:t>
            </a:r>
          </a:p>
          <a:p>
            <a:r>
              <a:rPr lang="it-IT" b="1" dirty="0"/>
              <a:t>500 </a:t>
            </a:r>
            <a:r>
              <a:rPr lang="it-IT" b="1" dirty="0" err="1"/>
              <a:t>Internal</a:t>
            </a:r>
            <a:r>
              <a:rPr lang="it-IT" b="1" dirty="0"/>
              <a:t> Server </a:t>
            </a:r>
            <a:r>
              <a:rPr lang="it-IT" b="1" dirty="0" err="1"/>
              <a:t>Error</a:t>
            </a:r>
            <a:r>
              <a:rPr lang="it-IT" b="1" dirty="0"/>
              <a:t>:</a:t>
            </a:r>
            <a:r>
              <a:rPr lang="it-IT" dirty="0"/>
              <a:t> Errore del server</a:t>
            </a:r>
          </a:p>
          <a:p>
            <a:r>
              <a:rPr lang="it-IT" b="1" dirty="0"/>
              <a:t>403 </a:t>
            </a:r>
            <a:r>
              <a:rPr lang="it-IT" b="1" dirty="0" err="1"/>
              <a:t>Forbidden</a:t>
            </a:r>
            <a:r>
              <a:rPr lang="it-IT" b="1" dirty="0"/>
              <a:t>:</a:t>
            </a:r>
            <a:r>
              <a:rPr lang="it-IT" dirty="0"/>
              <a:t> Accesso negato</a:t>
            </a:r>
          </a:p>
          <a:p>
            <a:pPr marL="0" indent="0">
              <a:buNone/>
            </a:pPr>
            <a:endParaRPr lang="it-IT" dirty="0"/>
          </a:p>
        </p:txBody>
      </p:sp>
    </p:spTree>
    <p:extLst>
      <p:ext uri="{BB962C8B-B14F-4D97-AF65-F5344CB8AC3E}">
        <p14:creationId xmlns:p14="http://schemas.microsoft.com/office/powerpoint/2010/main" val="117176018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DF5DA-35D0-DC9C-37A1-59CD6EBDAC55}"/>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74219CB5-E113-BDB0-5ABC-31656CBD54AC}"/>
              </a:ext>
            </a:extLst>
          </p:cNvPr>
          <p:cNvSpPr txBox="1">
            <a:spLocks noGrp="1"/>
          </p:cNvSpPr>
          <p:nvPr>
            <p:ph type="title"/>
          </p:nvPr>
        </p:nvSpPr>
        <p:spPr>
          <a:prstGeom prst="rect">
            <a:avLst/>
          </a:prstGeom>
        </p:spPr>
        <p:txBody>
          <a:bodyPr>
            <a:normAutofit/>
          </a:bodyPr>
          <a:lstStyle/>
          <a:p>
            <a:r>
              <a:rPr lang="it-IT" b="1" dirty="0"/>
              <a:t>DNS - Il Sistema dei Nomi</a:t>
            </a:r>
            <a:endParaRPr lang="it-IT" dirty="0"/>
          </a:p>
        </p:txBody>
      </p:sp>
      <p:sp>
        <p:nvSpPr>
          <p:cNvPr id="219" name="Cos’è?  Un linguaggio di programmazione compilato, general-purpose e tipizzato staticamente.…">
            <a:extLst>
              <a:ext uri="{FF2B5EF4-FFF2-40B4-BE49-F238E27FC236}">
                <a16:creationId xmlns:a16="http://schemas.microsoft.com/office/drawing/2014/main" id="{27E45C32-CC62-CE23-488F-446CB8C73E74}"/>
              </a:ext>
            </a:extLst>
          </p:cNvPr>
          <p:cNvSpPr txBox="1">
            <a:spLocks noGrp="1"/>
          </p:cNvSpPr>
          <p:nvPr>
            <p:ph type="body" idx="1"/>
          </p:nvPr>
        </p:nvSpPr>
        <p:spPr>
          <a:xfrm>
            <a:off x="1270000" y="2370237"/>
            <a:ext cx="21844000" cy="10261600"/>
          </a:xfrm>
          <a:prstGeom prst="rect">
            <a:avLst/>
          </a:prstGeom>
        </p:spPr>
        <p:txBody>
          <a:bodyPr>
            <a:noAutofit/>
          </a:bodyPr>
          <a:lstStyle/>
          <a:p>
            <a:r>
              <a:rPr lang="it-IT" b="1" dirty="0"/>
              <a:t>Domain Name System:</a:t>
            </a:r>
            <a:r>
              <a:rPr lang="it-IT" dirty="0"/>
              <a:t> "rubrica di Internet"</a:t>
            </a:r>
          </a:p>
          <a:p>
            <a:r>
              <a:rPr lang="it-IT" dirty="0"/>
              <a:t>Traduce nomi in indirizzi IP</a:t>
            </a:r>
          </a:p>
          <a:p>
            <a:r>
              <a:rPr lang="it-IT" dirty="0"/>
              <a:t>Sistema gerarchico e distribuito</a:t>
            </a:r>
          </a:p>
          <a:p>
            <a:r>
              <a:rPr lang="it-IT" dirty="0"/>
              <a:t>Cache per migliorare le performance</a:t>
            </a:r>
          </a:p>
          <a:p>
            <a:pPr marL="0" indent="0">
              <a:buNone/>
            </a:pPr>
            <a:r>
              <a:rPr lang="it-IT" b="1" dirty="0"/>
              <a:t>Processo di Risoluzione</a:t>
            </a:r>
          </a:p>
          <a:p>
            <a:pPr marL="914400" indent="-914400">
              <a:buFont typeface="+mj-lt"/>
              <a:buAutoNum type="arabicPeriod"/>
            </a:pPr>
            <a:r>
              <a:rPr lang="it-IT" dirty="0"/>
              <a:t>Browser controlla cache locale</a:t>
            </a:r>
          </a:p>
          <a:p>
            <a:pPr marL="914400" indent="-914400">
              <a:buFont typeface="+mj-lt"/>
              <a:buAutoNum type="arabicPeriod"/>
            </a:pPr>
            <a:r>
              <a:rPr lang="it-IT" dirty="0"/>
              <a:t>Query al DNS </a:t>
            </a:r>
            <a:r>
              <a:rPr lang="it-IT" dirty="0" err="1"/>
              <a:t>resolver</a:t>
            </a:r>
            <a:r>
              <a:rPr lang="it-IT" dirty="0"/>
              <a:t> dell'ISP</a:t>
            </a:r>
          </a:p>
          <a:p>
            <a:pPr marL="914400" indent="-914400">
              <a:buFont typeface="+mj-lt"/>
              <a:buAutoNum type="arabicPeriod"/>
            </a:pPr>
            <a:r>
              <a:rPr lang="it-IT" dirty="0"/>
              <a:t>Root servers → TLD servers → </a:t>
            </a:r>
            <a:r>
              <a:rPr lang="it-IT" dirty="0" err="1"/>
              <a:t>Authoritative</a:t>
            </a:r>
            <a:r>
              <a:rPr lang="it-IT" dirty="0"/>
              <a:t> servers</a:t>
            </a:r>
          </a:p>
          <a:p>
            <a:pPr marL="914400" indent="-914400">
              <a:buFont typeface="+mj-lt"/>
              <a:buAutoNum type="arabicPeriod"/>
            </a:pPr>
            <a:r>
              <a:rPr lang="it-IT" dirty="0"/>
              <a:t>Risposta con indirizzo IP</a:t>
            </a:r>
          </a:p>
          <a:p>
            <a:pPr marL="914400" indent="-914400">
              <a:buFont typeface="+mj-lt"/>
              <a:buAutoNum type="arabicPeriod"/>
            </a:pPr>
            <a:r>
              <a:rPr lang="it-IT" dirty="0"/>
              <a:t>Connessione diretta al server</a:t>
            </a:r>
          </a:p>
          <a:p>
            <a:r>
              <a:rPr lang="it-IT" b="1" dirty="0"/>
              <a:t>Esempio:</a:t>
            </a:r>
            <a:r>
              <a:rPr lang="it-IT" dirty="0"/>
              <a:t> </a:t>
            </a:r>
            <a:r>
              <a:rPr lang="it-IT" dirty="0" err="1"/>
              <a:t>www.google.com</a:t>
            </a:r>
            <a:r>
              <a:rPr lang="it-IT" dirty="0"/>
              <a:t> → 142.250.191.14</a:t>
            </a:r>
          </a:p>
          <a:p>
            <a:pPr marL="0" indent="0">
              <a:buNone/>
            </a:pPr>
            <a:endParaRPr lang="it-IT" dirty="0"/>
          </a:p>
        </p:txBody>
      </p:sp>
    </p:spTree>
    <p:extLst>
      <p:ext uri="{BB962C8B-B14F-4D97-AF65-F5344CB8AC3E}">
        <p14:creationId xmlns:p14="http://schemas.microsoft.com/office/powerpoint/2010/main" val="3626535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9E6CF-A0D0-F40C-B6C6-EFFE1A6067F7}"/>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0E81571D-388F-EB23-DEF5-0D59A254AFC7}"/>
              </a:ext>
            </a:extLst>
          </p:cNvPr>
          <p:cNvSpPr txBox="1">
            <a:spLocks noGrp="1"/>
          </p:cNvSpPr>
          <p:nvPr>
            <p:ph type="title"/>
          </p:nvPr>
        </p:nvSpPr>
        <p:spPr>
          <a:prstGeom prst="rect">
            <a:avLst/>
          </a:prstGeom>
        </p:spPr>
        <p:txBody>
          <a:bodyPr>
            <a:normAutofit/>
          </a:bodyPr>
          <a:lstStyle/>
          <a:p>
            <a:r>
              <a:rPr lang="it-IT" b="1" dirty="0"/>
              <a:t>Porte e indirizzi IP</a:t>
            </a:r>
            <a:endParaRPr lang="it-IT" dirty="0"/>
          </a:p>
        </p:txBody>
      </p:sp>
      <p:sp>
        <p:nvSpPr>
          <p:cNvPr id="219" name="Cos’è?  Un linguaggio di programmazione compilato, general-purpose e tipizzato staticamente.…">
            <a:extLst>
              <a:ext uri="{FF2B5EF4-FFF2-40B4-BE49-F238E27FC236}">
                <a16:creationId xmlns:a16="http://schemas.microsoft.com/office/drawing/2014/main" id="{418851C0-EFA3-A6C1-9995-23752B110A0C}"/>
              </a:ext>
            </a:extLst>
          </p:cNvPr>
          <p:cNvSpPr txBox="1">
            <a:spLocks noGrp="1"/>
          </p:cNvSpPr>
          <p:nvPr>
            <p:ph type="body" idx="1"/>
          </p:nvPr>
        </p:nvSpPr>
        <p:spPr>
          <a:xfrm>
            <a:off x="1270000" y="2370237"/>
            <a:ext cx="21844000" cy="10261600"/>
          </a:xfrm>
          <a:prstGeom prst="rect">
            <a:avLst/>
          </a:prstGeom>
        </p:spPr>
        <p:txBody>
          <a:bodyPr>
            <a:noAutofit/>
          </a:bodyPr>
          <a:lstStyle/>
          <a:p>
            <a:r>
              <a:rPr lang="it-IT" b="1" dirty="0"/>
              <a:t>Indirizzi IP</a:t>
            </a:r>
          </a:p>
          <a:p>
            <a:r>
              <a:rPr lang="it-IT" b="1" dirty="0"/>
              <a:t>IPv4:</a:t>
            </a:r>
            <a:r>
              <a:rPr lang="it-IT" dirty="0"/>
              <a:t> 192.168.1.1 (32 bit)</a:t>
            </a:r>
          </a:p>
          <a:p>
            <a:r>
              <a:rPr lang="it-IT" b="1" dirty="0"/>
              <a:t>IPv6:</a:t>
            </a:r>
            <a:r>
              <a:rPr lang="it-IT" dirty="0"/>
              <a:t> 2001:db8::1 (128 bit)</a:t>
            </a:r>
          </a:p>
          <a:p>
            <a:r>
              <a:rPr lang="it-IT" dirty="0"/>
              <a:t>Identificano univocamente un dispositivo</a:t>
            </a:r>
          </a:p>
          <a:p>
            <a:r>
              <a:rPr lang="it-IT" b="1" dirty="0"/>
              <a:t>Porte</a:t>
            </a:r>
          </a:p>
          <a:p>
            <a:r>
              <a:rPr lang="it-IT" b="1" dirty="0"/>
              <a:t>Numeri da 0 a 65535</a:t>
            </a:r>
            <a:endParaRPr lang="it-IT" dirty="0"/>
          </a:p>
          <a:p>
            <a:r>
              <a:rPr lang="it-IT" dirty="0"/>
              <a:t>Identificano servizi specifici su un server</a:t>
            </a:r>
          </a:p>
          <a:p>
            <a:r>
              <a:rPr lang="it-IT" b="1" dirty="0"/>
              <a:t>Porte standard:</a:t>
            </a:r>
            <a:r>
              <a:rPr lang="it-IT" dirty="0"/>
              <a:t> 80 (HTTP), 443 (HTTPS), 21 (FTP), 22 (SSH)</a:t>
            </a:r>
          </a:p>
          <a:p>
            <a:r>
              <a:rPr lang="it-IT" b="1" dirty="0"/>
              <a:t>Combinazione</a:t>
            </a:r>
          </a:p>
          <a:p>
            <a:r>
              <a:rPr lang="it-IT" dirty="0"/>
              <a:t>192.168.1.1:8080 = server specifico + servizio specifico</a:t>
            </a:r>
          </a:p>
          <a:p>
            <a:pPr marL="0" indent="0">
              <a:buNone/>
            </a:pPr>
            <a:endParaRPr lang="it-IT" dirty="0"/>
          </a:p>
        </p:txBody>
      </p:sp>
      <p:sp>
        <p:nvSpPr>
          <p:cNvPr id="2" name="CasellaDiTesto 1">
            <a:extLst>
              <a:ext uri="{FF2B5EF4-FFF2-40B4-BE49-F238E27FC236}">
                <a16:creationId xmlns:a16="http://schemas.microsoft.com/office/drawing/2014/main" id="{E9B1EBF5-CF26-F971-6286-5A52F7DF8C1C}"/>
              </a:ext>
            </a:extLst>
          </p:cNvPr>
          <p:cNvSpPr txBox="1"/>
          <p:nvPr/>
        </p:nvSpPr>
        <p:spPr>
          <a:xfrm>
            <a:off x="17036716" y="1158031"/>
            <a:ext cx="102657" cy="11490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endParaRPr kumimoji="0" lang="it-IT" sz="4800" b="0" i="0" u="none" strike="noStrike" cap="none" spc="0" normalizeH="0" baseline="0" dirty="0">
              <a:ln>
                <a:noFill/>
              </a:ln>
              <a:solidFill>
                <a:srgbClr val="000000"/>
              </a:solidFill>
              <a:effectLst/>
              <a:uFillTx/>
              <a:latin typeface="Graphik"/>
              <a:ea typeface="Graphik"/>
              <a:cs typeface="Graphik"/>
              <a:sym typeface="Graphik"/>
            </a:endParaRPr>
          </a:p>
        </p:txBody>
      </p:sp>
    </p:spTree>
    <p:extLst>
      <p:ext uri="{BB962C8B-B14F-4D97-AF65-F5344CB8AC3E}">
        <p14:creationId xmlns:p14="http://schemas.microsoft.com/office/powerpoint/2010/main" val="249480900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C88EC-17A9-67FB-0CBD-F242DBBCCC2A}"/>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C2894F1E-CF60-51C8-D24F-AB6E6FB297FB}"/>
              </a:ext>
            </a:extLst>
          </p:cNvPr>
          <p:cNvSpPr txBox="1">
            <a:spLocks noGrp="1"/>
          </p:cNvSpPr>
          <p:nvPr>
            <p:ph type="title"/>
          </p:nvPr>
        </p:nvSpPr>
        <p:spPr>
          <a:prstGeom prst="rect">
            <a:avLst/>
          </a:prstGeom>
        </p:spPr>
        <p:txBody>
          <a:bodyPr/>
          <a:lstStyle/>
          <a:p>
            <a:r>
              <a:rPr lang="it-IT" b="1" dirty="0" err="1">
                <a:solidFill>
                  <a:schemeClr val="tx1"/>
                </a:solidFill>
              </a:rPr>
              <a:t>FrontEnd</a:t>
            </a:r>
            <a:r>
              <a:rPr lang="it-IT" b="1" dirty="0">
                <a:solidFill>
                  <a:schemeClr val="tx1"/>
                </a:solidFill>
              </a:rPr>
              <a:t> vs </a:t>
            </a:r>
            <a:r>
              <a:rPr lang="it-IT" b="1" dirty="0" err="1">
                <a:solidFill>
                  <a:schemeClr val="tx1"/>
                </a:solidFill>
              </a:rPr>
              <a:t>BackEnd</a:t>
            </a:r>
            <a:endParaRPr b="1" dirty="0">
              <a:solidFill>
                <a:schemeClr val="tx1"/>
              </a:solidFill>
            </a:endParaRPr>
          </a:p>
        </p:txBody>
      </p:sp>
      <p:sp>
        <p:nvSpPr>
          <p:cNvPr id="219" name="Cos’è?  Un linguaggio di programmazione compilato, general-purpose e tipizzato staticamente.…">
            <a:extLst>
              <a:ext uri="{FF2B5EF4-FFF2-40B4-BE49-F238E27FC236}">
                <a16:creationId xmlns:a16="http://schemas.microsoft.com/office/drawing/2014/main" id="{0EF1A603-D437-0543-9539-E8BBF7425DBF}"/>
              </a:ext>
            </a:extLst>
          </p:cNvPr>
          <p:cNvSpPr txBox="1">
            <a:spLocks noGrp="1"/>
          </p:cNvSpPr>
          <p:nvPr>
            <p:ph type="body" sz="half" idx="1"/>
          </p:nvPr>
        </p:nvSpPr>
        <p:spPr>
          <a:prstGeom prst="rect">
            <a:avLst/>
          </a:prstGeom>
        </p:spPr>
        <p:txBody>
          <a:bodyPr>
            <a:noAutofit/>
          </a:bodyPr>
          <a:lstStyle/>
          <a:p>
            <a:pPr marL="0" indent="0">
              <a:buNone/>
            </a:pPr>
            <a:r>
              <a:rPr lang="it-IT" sz="6000" b="1" dirty="0" err="1"/>
              <a:t>Frontend</a:t>
            </a:r>
            <a:endParaRPr lang="it-IT" sz="6000" b="1" dirty="0"/>
          </a:p>
          <a:p>
            <a:r>
              <a:rPr lang="it-IT" sz="5400" b="1" dirty="0"/>
              <a:t>Interfaccia utente</a:t>
            </a:r>
            <a:r>
              <a:rPr lang="it-IT" sz="5400" dirty="0"/>
              <a:t> che vede e usa</a:t>
            </a:r>
          </a:p>
          <a:p>
            <a:r>
              <a:rPr lang="it-IT" sz="5400" dirty="0"/>
              <a:t>Tecnologie: HTML, CSS, JavaScript</a:t>
            </a:r>
          </a:p>
          <a:p>
            <a:r>
              <a:rPr lang="it-IT" sz="5400" dirty="0"/>
              <a:t>Gira nel browser del client</a:t>
            </a:r>
          </a:p>
          <a:p>
            <a:r>
              <a:rPr lang="it-IT" sz="5400" dirty="0"/>
              <a:t>Responsabile di UX/UI</a:t>
            </a:r>
          </a:p>
          <a:p>
            <a:pPr marL="0" indent="0">
              <a:buNone/>
            </a:pPr>
            <a:endParaRPr lang="it-IT" sz="4400" dirty="0"/>
          </a:p>
        </p:txBody>
      </p:sp>
      <p:sp>
        <p:nvSpPr>
          <p:cNvPr id="3" name="Cos’è?  Un linguaggio di programmazione compilato, general-purpose e tipizzato staticamente.…">
            <a:extLst>
              <a:ext uri="{FF2B5EF4-FFF2-40B4-BE49-F238E27FC236}">
                <a16:creationId xmlns:a16="http://schemas.microsoft.com/office/drawing/2014/main" id="{EFDE2AF8-30BD-E221-CB87-1AAE0BBC0D73}"/>
              </a:ext>
            </a:extLst>
          </p:cNvPr>
          <p:cNvSpPr txBox="1">
            <a:spLocks/>
          </p:cNvSpPr>
          <p:nvPr/>
        </p:nvSpPr>
        <p:spPr>
          <a:xfrm>
            <a:off x="13907477" y="4267200"/>
            <a:ext cx="9652000" cy="843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558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1pPr>
            <a:lvl2pPr marL="1117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9pPr>
          </a:lstStyle>
          <a:p>
            <a:r>
              <a:rPr lang="it-IT" sz="6000" b="1" dirty="0" err="1"/>
              <a:t>Backend</a:t>
            </a:r>
            <a:endParaRPr lang="it-IT" sz="6000" b="1" dirty="0"/>
          </a:p>
          <a:p>
            <a:r>
              <a:rPr lang="it-IT" sz="5400" b="1" dirty="0"/>
              <a:t>Logica di business</a:t>
            </a:r>
            <a:r>
              <a:rPr lang="it-IT" sz="5400" dirty="0"/>
              <a:t> e gestione dati</a:t>
            </a:r>
          </a:p>
          <a:p>
            <a:r>
              <a:rPr lang="it-IT" sz="5400" dirty="0"/>
              <a:t>Tecnologie: Python, Java, </a:t>
            </a:r>
            <a:r>
              <a:rPr lang="it-IT" sz="5400" dirty="0" err="1"/>
              <a:t>Node.js</a:t>
            </a:r>
            <a:r>
              <a:rPr lang="it-IT" sz="5400" dirty="0"/>
              <a:t>, PHP</a:t>
            </a:r>
          </a:p>
          <a:p>
            <a:r>
              <a:rPr lang="it-IT" sz="5400" dirty="0"/>
              <a:t>Gira sui server</a:t>
            </a:r>
          </a:p>
          <a:p>
            <a:r>
              <a:rPr lang="it-IT" sz="5400" dirty="0"/>
              <a:t>Gestisce database, autenticazione, API</a:t>
            </a:r>
          </a:p>
        </p:txBody>
      </p:sp>
    </p:spTree>
    <p:extLst>
      <p:ext uri="{BB962C8B-B14F-4D97-AF65-F5344CB8AC3E}">
        <p14:creationId xmlns:p14="http://schemas.microsoft.com/office/powerpoint/2010/main" val="315886497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72351-D2A6-B555-BF12-EE4101B197C7}"/>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FDB61B7A-8FB4-CC3B-62B4-306551C66242}"/>
              </a:ext>
            </a:extLst>
          </p:cNvPr>
          <p:cNvSpPr txBox="1">
            <a:spLocks noGrp="1"/>
          </p:cNvSpPr>
          <p:nvPr>
            <p:ph type="title"/>
          </p:nvPr>
        </p:nvSpPr>
        <p:spPr>
          <a:prstGeom prst="rect">
            <a:avLst/>
          </a:prstGeom>
        </p:spPr>
        <p:txBody>
          <a:bodyPr/>
          <a:lstStyle/>
          <a:p>
            <a:r>
              <a:rPr lang="it-IT" b="1" dirty="0" err="1">
                <a:solidFill>
                  <a:schemeClr val="tx1"/>
                </a:solidFill>
              </a:rPr>
              <a:t>FrontEnd</a:t>
            </a:r>
            <a:r>
              <a:rPr lang="it-IT" b="1" dirty="0">
                <a:solidFill>
                  <a:schemeClr val="tx1"/>
                </a:solidFill>
              </a:rPr>
              <a:t> vs </a:t>
            </a:r>
            <a:r>
              <a:rPr lang="it-IT" b="1" dirty="0" err="1">
                <a:solidFill>
                  <a:schemeClr val="tx1"/>
                </a:solidFill>
              </a:rPr>
              <a:t>BackEnd</a:t>
            </a:r>
            <a:endParaRPr b="1" dirty="0">
              <a:solidFill>
                <a:schemeClr val="tx1"/>
              </a:solidFill>
            </a:endParaRPr>
          </a:p>
        </p:txBody>
      </p:sp>
      <p:pic>
        <p:nvPicPr>
          <p:cNvPr id="12290" name="Picture 2" descr="Frontend Vs Backend: An Objective Look - DEV Community">
            <a:extLst>
              <a:ext uri="{FF2B5EF4-FFF2-40B4-BE49-F238E27FC236}">
                <a16:creationId xmlns:a16="http://schemas.microsoft.com/office/drawing/2014/main" id="{6F236FE4-605F-728E-F3C1-C5E92136E9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3708" y="2793612"/>
            <a:ext cx="14636583" cy="10084188"/>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F404C75A-4A17-7727-9469-904B2B0EDF98}"/>
              </a:ext>
            </a:extLst>
          </p:cNvPr>
          <p:cNvSpPr txBox="1"/>
          <p:nvPr/>
        </p:nvSpPr>
        <p:spPr>
          <a:xfrm>
            <a:off x="4873708" y="12751633"/>
            <a:ext cx="6998677" cy="9643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r>
              <a:rPr kumimoji="0" lang="it-IT" sz="3600" b="0" i="1" u="none" strike="noStrike" cap="none" spc="0" normalizeH="0" baseline="0" dirty="0">
                <a:ln>
                  <a:noFill/>
                </a:ln>
                <a:solidFill>
                  <a:srgbClr val="000000"/>
                </a:solidFill>
                <a:effectLst/>
                <a:uFillTx/>
                <a:latin typeface="Graphik"/>
                <a:ea typeface="Graphik"/>
                <a:cs typeface="Graphik"/>
                <a:sym typeface="Graphik"/>
              </a:rPr>
              <a:t>Fonte: </a:t>
            </a:r>
            <a:r>
              <a:rPr kumimoji="0" lang="it-IT" sz="3600" b="0" i="1" u="none" strike="noStrike" cap="none" spc="0" normalizeH="0" baseline="0" dirty="0" err="1">
                <a:ln>
                  <a:noFill/>
                </a:ln>
                <a:solidFill>
                  <a:srgbClr val="000000"/>
                </a:solidFill>
                <a:effectLst/>
                <a:uFillTx/>
                <a:latin typeface="Graphik"/>
                <a:ea typeface="Graphik"/>
                <a:cs typeface="Graphik"/>
                <a:sym typeface="Graphik"/>
              </a:rPr>
              <a:t>devcommunity.com</a:t>
            </a:r>
            <a:endParaRPr kumimoji="0" lang="it-IT" sz="3600" b="0" i="1" u="none" strike="noStrike" cap="none" spc="0" normalizeH="0" baseline="0" dirty="0">
              <a:ln>
                <a:noFill/>
              </a:ln>
              <a:solidFill>
                <a:srgbClr val="000000"/>
              </a:solidFill>
              <a:effectLst/>
              <a:uFillTx/>
              <a:latin typeface="Graphik"/>
              <a:ea typeface="Graphik"/>
              <a:cs typeface="Graphik"/>
              <a:sym typeface="Graphik"/>
            </a:endParaRPr>
          </a:p>
        </p:txBody>
      </p:sp>
    </p:spTree>
    <p:extLst>
      <p:ext uri="{BB962C8B-B14F-4D97-AF65-F5344CB8AC3E}">
        <p14:creationId xmlns:p14="http://schemas.microsoft.com/office/powerpoint/2010/main" val="25241380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027A0-E140-0851-2CF6-AD1F21F629C9}"/>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92AC0590-B3CC-2934-AEC2-CA13046802CB}"/>
              </a:ext>
            </a:extLst>
          </p:cNvPr>
          <p:cNvSpPr txBox="1">
            <a:spLocks noGrp="1"/>
          </p:cNvSpPr>
          <p:nvPr>
            <p:ph type="title"/>
          </p:nvPr>
        </p:nvSpPr>
        <p:spPr>
          <a:prstGeom prst="rect">
            <a:avLst/>
          </a:prstGeom>
        </p:spPr>
        <p:txBody>
          <a:bodyPr>
            <a:normAutofit/>
          </a:bodyPr>
          <a:lstStyle/>
          <a:p>
            <a:r>
              <a:rPr lang="it-IT" b="1" dirty="0"/>
              <a:t>L'Ecosistema Python Web</a:t>
            </a:r>
            <a:endParaRPr lang="it-IT" dirty="0"/>
          </a:p>
        </p:txBody>
      </p:sp>
      <p:sp>
        <p:nvSpPr>
          <p:cNvPr id="219" name="Cos’è?  Un linguaggio di programmazione compilato, general-purpose e tipizzato staticamente.…">
            <a:extLst>
              <a:ext uri="{FF2B5EF4-FFF2-40B4-BE49-F238E27FC236}">
                <a16:creationId xmlns:a16="http://schemas.microsoft.com/office/drawing/2014/main" id="{34434E3F-0A0C-45D2-B4DB-55D47D7E808B}"/>
              </a:ext>
            </a:extLst>
          </p:cNvPr>
          <p:cNvSpPr txBox="1">
            <a:spLocks noGrp="1"/>
          </p:cNvSpPr>
          <p:nvPr>
            <p:ph type="body" idx="1"/>
          </p:nvPr>
        </p:nvSpPr>
        <p:spPr>
          <a:xfrm>
            <a:off x="1270000" y="2370237"/>
            <a:ext cx="21844000" cy="10261600"/>
          </a:xfrm>
          <a:prstGeom prst="rect">
            <a:avLst/>
          </a:prstGeom>
        </p:spPr>
        <p:txBody>
          <a:bodyPr>
            <a:noAutofit/>
          </a:bodyPr>
          <a:lstStyle/>
          <a:p>
            <a:r>
              <a:rPr lang="it-IT" dirty="0"/>
              <a:t>Python offre diversi livelli di astrazione:</a:t>
            </a:r>
          </a:p>
          <a:p>
            <a:r>
              <a:rPr lang="it-IT" b="1" dirty="0"/>
              <a:t>Livello Base:</a:t>
            </a:r>
            <a:r>
              <a:rPr lang="it-IT" dirty="0"/>
              <a:t> </a:t>
            </a:r>
            <a:r>
              <a:rPr lang="it-IT" dirty="0" err="1"/>
              <a:t>http.server</a:t>
            </a:r>
            <a:r>
              <a:rPr lang="it-IT" dirty="0"/>
              <a:t> (standard library)</a:t>
            </a:r>
          </a:p>
          <a:p>
            <a:r>
              <a:rPr lang="it-IT" dirty="0"/>
              <a:t>Perfetto per prototipi e testing</a:t>
            </a:r>
          </a:p>
          <a:p>
            <a:r>
              <a:rPr lang="it-IT" dirty="0"/>
              <a:t>Controllo totale ma più codice da scrivere</a:t>
            </a:r>
          </a:p>
          <a:p>
            <a:pPr marL="0" indent="0">
              <a:buNone/>
            </a:pPr>
            <a:endParaRPr lang="it-IT" b="1" dirty="0"/>
          </a:p>
          <a:p>
            <a:pPr marL="0" indent="0">
              <a:buNone/>
            </a:pPr>
            <a:r>
              <a:rPr lang="it-IT" b="1" dirty="0"/>
              <a:t>Framework Leggeri:</a:t>
            </a:r>
            <a:r>
              <a:rPr lang="it-IT" dirty="0"/>
              <a:t> </a:t>
            </a:r>
            <a:r>
              <a:rPr lang="it-IT" dirty="0" err="1"/>
              <a:t>Flask</a:t>
            </a:r>
            <a:endParaRPr lang="it-IT" dirty="0"/>
          </a:p>
          <a:p>
            <a:r>
              <a:rPr lang="it-IT" dirty="0"/>
              <a:t>Minimalista, flessibile</a:t>
            </a:r>
          </a:p>
          <a:p>
            <a:r>
              <a:rPr lang="it-IT" dirty="0"/>
              <a:t>Ideale per API e applicazioni piccole-medie</a:t>
            </a:r>
          </a:p>
          <a:p>
            <a:pPr marL="0" indent="0">
              <a:buNone/>
            </a:pPr>
            <a:endParaRPr lang="it-IT" dirty="0"/>
          </a:p>
        </p:txBody>
      </p:sp>
      <p:sp>
        <p:nvSpPr>
          <p:cNvPr id="2" name="CasellaDiTesto 1">
            <a:extLst>
              <a:ext uri="{FF2B5EF4-FFF2-40B4-BE49-F238E27FC236}">
                <a16:creationId xmlns:a16="http://schemas.microsoft.com/office/drawing/2014/main" id="{07B558FA-F6C9-76DC-468C-90B8C800CC55}"/>
              </a:ext>
            </a:extLst>
          </p:cNvPr>
          <p:cNvSpPr txBox="1"/>
          <p:nvPr/>
        </p:nvSpPr>
        <p:spPr>
          <a:xfrm>
            <a:off x="17036716" y="1158031"/>
            <a:ext cx="102657" cy="11490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endParaRPr kumimoji="0" lang="it-IT" sz="4800" b="0" i="0" u="none" strike="noStrike" cap="none" spc="0" normalizeH="0" baseline="0" dirty="0">
              <a:ln>
                <a:noFill/>
              </a:ln>
              <a:solidFill>
                <a:srgbClr val="000000"/>
              </a:solidFill>
              <a:effectLst/>
              <a:uFillTx/>
              <a:latin typeface="Graphik"/>
              <a:ea typeface="Graphik"/>
              <a:cs typeface="Graphik"/>
              <a:sym typeface="Graphik"/>
            </a:endParaRPr>
          </a:p>
        </p:txBody>
      </p:sp>
    </p:spTree>
    <p:extLst>
      <p:ext uri="{BB962C8B-B14F-4D97-AF65-F5344CB8AC3E}">
        <p14:creationId xmlns:p14="http://schemas.microsoft.com/office/powerpoint/2010/main" val="395012593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877C2-AD0D-12FA-AAD0-F65E3BBC68AD}"/>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6612E1DC-F38A-9974-D2E3-D742E959CF4D}"/>
              </a:ext>
            </a:extLst>
          </p:cNvPr>
          <p:cNvSpPr txBox="1">
            <a:spLocks noGrp="1"/>
          </p:cNvSpPr>
          <p:nvPr>
            <p:ph type="title"/>
          </p:nvPr>
        </p:nvSpPr>
        <p:spPr>
          <a:prstGeom prst="rect">
            <a:avLst/>
          </a:prstGeom>
        </p:spPr>
        <p:txBody>
          <a:bodyPr>
            <a:normAutofit/>
          </a:bodyPr>
          <a:lstStyle/>
          <a:p>
            <a:r>
              <a:rPr lang="it-IT" b="1" dirty="0"/>
              <a:t>L'Ecosistema Python Web</a:t>
            </a:r>
            <a:endParaRPr lang="it-IT" dirty="0"/>
          </a:p>
        </p:txBody>
      </p:sp>
      <p:sp>
        <p:nvSpPr>
          <p:cNvPr id="219" name="Cos’è?  Un linguaggio di programmazione compilato, general-purpose e tipizzato staticamente.…">
            <a:extLst>
              <a:ext uri="{FF2B5EF4-FFF2-40B4-BE49-F238E27FC236}">
                <a16:creationId xmlns:a16="http://schemas.microsoft.com/office/drawing/2014/main" id="{2A3D8736-22FF-3FDF-2CF8-1F3F8B6DF6BC}"/>
              </a:ext>
            </a:extLst>
          </p:cNvPr>
          <p:cNvSpPr txBox="1">
            <a:spLocks noGrp="1"/>
          </p:cNvSpPr>
          <p:nvPr>
            <p:ph type="body" idx="1"/>
          </p:nvPr>
        </p:nvSpPr>
        <p:spPr>
          <a:xfrm>
            <a:off x="1270000" y="2370237"/>
            <a:ext cx="21844000" cy="10261600"/>
          </a:xfrm>
          <a:prstGeom prst="rect">
            <a:avLst/>
          </a:prstGeom>
        </p:spPr>
        <p:txBody>
          <a:bodyPr>
            <a:noAutofit/>
          </a:bodyPr>
          <a:lstStyle/>
          <a:p>
            <a:r>
              <a:rPr lang="it-IT" dirty="0"/>
              <a:t>Python offre diversi livelli di astrazione:</a:t>
            </a:r>
          </a:p>
          <a:p>
            <a:pPr marL="0" indent="0">
              <a:buNone/>
            </a:pPr>
            <a:r>
              <a:rPr lang="it-IT" b="1" dirty="0"/>
              <a:t>Framework Completi:</a:t>
            </a:r>
            <a:r>
              <a:rPr lang="it-IT" dirty="0"/>
              <a:t> Django</a:t>
            </a:r>
          </a:p>
          <a:p>
            <a:r>
              <a:rPr lang="it-IT" dirty="0"/>
              <a:t>"</a:t>
            </a:r>
            <a:r>
              <a:rPr lang="it-IT" dirty="0" err="1"/>
              <a:t>Batteries</a:t>
            </a:r>
            <a:r>
              <a:rPr lang="it-IT" dirty="0"/>
              <a:t> </a:t>
            </a:r>
            <a:r>
              <a:rPr lang="it-IT" dirty="0" err="1"/>
              <a:t>included</a:t>
            </a:r>
            <a:r>
              <a:rPr lang="it-IT" dirty="0"/>
              <a:t>"</a:t>
            </a:r>
          </a:p>
          <a:p>
            <a:endParaRPr lang="it-IT" b="1" dirty="0"/>
          </a:p>
          <a:p>
            <a:pPr marL="0" indent="0">
              <a:buNone/>
            </a:pPr>
            <a:r>
              <a:rPr lang="it-IT" b="1" dirty="0"/>
              <a:t>Framework Moderni:</a:t>
            </a:r>
            <a:r>
              <a:rPr lang="it-IT" dirty="0"/>
              <a:t> </a:t>
            </a:r>
            <a:r>
              <a:rPr lang="it-IT" dirty="0" err="1"/>
              <a:t>FastAPI</a:t>
            </a:r>
            <a:endParaRPr lang="it-IT" dirty="0"/>
          </a:p>
          <a:p>
            <a:r>
              <a:rPr lang="it-IT" dirty="0"/>
              <a:t>Performance elevate</a:t>
            </a:r>
          </a:p>
          <a:p>
            <a:r>
              <a:rPr lang="it-IT" dirty="0"/>
              <a:t>Documentazione API automatica</a:t>
            </a:r>
          </a:p>
          <a:p>
            <a:pPr marL="0" indent="0">
              <a:buNone/>
            </a:pPr>
            <a:endParaRPr lang="it-IT" dirty="0"/>
          </a:p>
        </p:txBody>
      </p:sp>
      <p:sp>
        <p:nvSpPr>
          <p:cNvPr id="2" name="CasellaDiTesto 1">
            <a:extLst>
              <a:ext uri="{FF2B5EF4-FFF2-40B4-BE49-F238E27FC236}">
                <a16:creationId xmlns:a16="http://schemas.microsoft.com/office/drawing/2014/main" id="{6E5C1142-0943-A15B-9B16-6832C4B57DBE}"/>
              </a:ext>
            </a:extLst>
          </p:cNvPr>
          <p:cNvSpPr txBox="1"/>
          <p:nvPr/>
        </p:nvSpPr>
        <p:spPr>
          <a:xfrm>
            <a:off x="17036716" y="1158031"/>
            <a:ext cx="102657" cy="11490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endParaRPr kumimoji="0" lang="it-IT" sz="4800" b="0" i="0" u="none" strike="noStrike" cap="none" spc="0" normalizeH="0" baseline="0" dirty="0">
              <a:ln>
                <a:noFill/>
              </a:ln>
              <a:solidFill>
                <a:srgbClr val="000000"/>
              </a:solidFill>
              <a:effectLst/>
              <a:uFillTx/>
              <a:latin typeface="Graphik"/>
              <a:ea typeface="Graphik"/>
              <a:cs typeface="Graphik"/>
              <a:sym typeface="Graphik"/>
            </a:endParaRPr>
          </a:p>
        </p:txBody>
      </p:sp>
    </p:spTree>
    <p:extLst>
      <p:ext uri="{BB962C8B-B14F-4D97-AF65-F5344CB8AC3E}">
        <p14:creationId xmlns:p14="http://schemas.microsoft.com/office/powerpoint/2010/main" val="239123867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A99C-B8E2-7BD3-6726-58AC2396C502}"/>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9083444B-22D1-A13D-E7BA-C1C0E7547803}"/>
              </a:ext>
            </a:extLst>
          </p:cNvPr>
          <p:cNvSpPr txBox="1">
            <a:spLocks noGrp="1"/>
          </p:cNvSpPr>
          <p:nvPr>
            <p:ph type="title"/>
          </p:nvPr>
        </p:nvSpPr>
        <p:spPr>
          <a:prstGeom prst="rect">
            <a:avLst/>
          </a:prstGeom>
        </p:spPr>
        <p:txBody>
          <a:bodyPr>
            <a:normAutofit/>
          </a:bodyPr>
          <a:lstStyle/>
          <a:p>
            <a:r>
              <a:rPr lang="it-IT" b="1" dirty="0"/>
              <a:t>WSGI vs ASGI</a:t>
            </a:r>
            <a:endParaRPr lang="it-IT" dirty="0"/>
          </a:p>
        </p:txBody>
      </p:sp>
      <p:sp>
        <p:nvSpPr>
          <p:cNvPr id="219" name="Cos’è?  Un linguaggio di programmazione compilato, general-purpose e tipizzato staticamente.…">
            <a:extLst>
              <a:ext uri="{FF2B5EF4-FFF2-40B4-BE49-F238E27FC236}">
                <a16:creationId xmlns:a16="http://schemas.microsoft.com/office/drawing/2014/main" id="{07EAC7EE-655D-7A12-DA3C-56AF23B7BB89}"/>
              </a:ext>
            </a:extLst>
          </p:cNvPr>
          <p:cNvSpPr txBox="1">
            <a:spLocks noGrp="1"/>
          </p:cNvSpPr>
          <p:nvPr>
            <p:ph type="body" idx="1"/>
          </p:nvPr>
        </p:nvSpPr>
        <p:spPr>
          <a:xfrm>
            <a:off x="1270000" y="2370237"/>
            <a:ext cx="21844000" cy="10261600"/>
          </a:xfrm>
          <a:prstGeom prst="rect">
            <a:avLst/>
          </a:prstGeom>
        </p:spPr>
        <p:txBody>
          <a:bodyPr>
            <a:noAutofit/>
          </a:bodyPr>
          <a:lstStyle/>
          <a:p>
            <a:r>
              <a:rPr lang="it-IT" b="1" dirty="0"/>
              <a:t>WSGI (Web Server Gateway Interface)</a:t>
            </a:r>
          </a:p>
          <a:p>
            <a:r>
              <a:rPr lang="it-IT" b="1" dirty="0"/>
              <a:t>Standard dal 2003</a:t>
            </a:r>
            <a:endParaRPr lang="it-IT" dirty="0"/>
          </a:p>
          <a:p>
            <a:r>
              <a:rPr lang="it-IT" dirty="0"/>
              <a:t>Gestione </a:t>
            </a:r>
            <a:r>
              <a:rPr lang="it-IT" b="1" dirty="0"/>
              <a:t>sincrona</a:t>
            </a:r>
            <a:r>
              <a:rPr lang="it-IT" dirty="0"/>
              <a:t> delle richieste</a:t>
            </a:r>
          </a:p>
          <a:p>
            <a:r>
              <a:rPr lang="it-IT" dirty="0"/>
              <a:t>Una richiesta alla volta per </a:t>
            </a:r>
            <a:r>
              <a:rPr lang="it-IT" dirty="0" err="1"/>
              <a:t>thread</a:t>
            </a:r>
            <a:r>
              <a:rPr lang="it-IT" dirty="0"/>
              <a:t>/processo</a:t>
            </a:r>
          </a:p>
          <a:p>
            <a:r>
              <a:rPr lang="it-IT" dirty="0"/>
              <a:t>Perfetto per applicazioni tradizionali</a:t>
            </a:r>
          </a:p>
          <a:p>
            <a:pPr marL="0" indent="0">
              <a:buNone/>
            </a:pPr>
            <a:r>
              <a:rPr lang="it-IT" b="1" dirty="0"/>
              <a:t>ASGI (</a:t>
            </a:r>
            <a:r>
              <a:rPr lang="it-IT" b="1" dirty="0" err="1"/>
              <a:t>Asynchronous</a:t>
            </a:r>
            <a:r>
              <a:rPr lang="it-IT" b="1" dirty="0"/>
              <a:t> Server Gateway Interface)</a:t>
            </a:r>
          </a:p>
          <a:p>
            <a:r>
              <a:rPr lang="it-IT" b="1" dirty="0"/>
              <a:t>Standard moderno</a:t>
            </a:r>
            <a:r>
              <a:rPr lang="it-IT" dirty="0"/>
              <a:t> (2016+)</a:t>
            </a:r>
          </a:p>
          <a:p>
            <a:r>
              <a:rPr lang="it-IT" dirty="0"/>
              <a:t>Gestione </a:t>
            </a:r>
            <a:r>
              <a:rPr lang="it-IT" b="1" dirty="0"/>
              <a:t>asincrona</a:t>
            </a:r>
            <a:r>
              <a:rPr lang="it-IT" dirty="0"/>
              <a:t> delle richieste </a:t>
            </a:r>
            <a:r>
              <a:rPr lang="it-IT" dirty="0">
                <a:sym typeface="Wingdings" pitchFamily="2" charset="2"/>
              </a:rPr>
              <a:t> migliaia di connessioni simultanee</a:t>
            </a:r>
            <a:endParaRPr lang="it-IT" dirty="0"/>
          </a:p>
          <a:p>
            <a:r>
              <a:rPr lang="it-IT" dirty="0"/>
              <a:t>Supporta </a:t>
            </a:r>
            <a:r>
              <a:rPr lang="it-IT" dirty="0" err="1"/>
              <a:t>WebSocket</a:t>
            </a:r>
            <a:r>
              <a:rPr lang="it-IT" dirty="0"/>
              <a:t>, HTTP/2, long-polling</a:t>
            </a:r>
          </a:p>
          <a:p>
            <a:r>
              <a:rPr lang="it-IT" b="1" dirty="0"/>
              <a:t>Analogia:</a:t>
            </a:r>
            <a:r>
              <a:rPr lang="it-IT" dirty="0"/>
              <a:t> WSGI è come una cassa del supermercato tradizionale, ASGI è come il self-checkout multiplo!</a:t>
            </a:r>
          </a:p>
          <a:p>
            <a:pPr marL="0" indent="0">
              <a:buNone/>
            </a:pPr>
            <a:endParaRPr lang="it-IT" dirty="0"/>
          </a:p>
        </p:txBody>
      </p:sp>
      <p:sp>
        <p:nvSpPr>
          <p:cNvPr id="2" name="CasellaDiTesto 1">
            <a:extLst>
              <a:ext uri="{FF2B5EF4-FFF2-40B4-BE49-F238E27FC236}">
                <a16:creationId xmlns:a16="http://schemas.microsoft.com/office/drawing/2014/main" id="{624641F9-D8F9-5C84-CD5D-AD915FC944C1}"/>
              </a:ext>
            </a:extLst>
          </p:cNvPr>
          <p:cNvSpPr txBox="1"/>
          <p:nvPr/>
        </p:nvSpPr>
        <p:spPr>
          <a:xfrm>
            <a:off x="17036716" y="1158031"/>
            <a:ext cx="102657" cy="11490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endParaRPr kumimoji="0" lang="it-IT" sz="4800" b="0" i="0" u="none" strike="noStrike" cap="none" spc="0" normalizeH="0" baseline="0" dirty="0">
              <a:ln>
                <a:noFill/>
              </a:ln>
              <a:solidFill>
                <a:srgbClr val="000000"/>
              </a:solidFill>
              <a:effectLst/>
              <a:uFillTx/>
              <a:latin typeface="Graphik"/>
              <a:ea typeface="Graphik"/>
              <a:cs typeface="Graphik"/>
              <a:sym typeface="Graphik"/>
            </a:endParaRPr>
          </a:p>
        </p:txBody>
      </p:sp>
    </p:spTree>
    <p:extLst>
      <p:ext uri="{BB962C8B-B14F-4D97-AF65-F5344CB8AC3E}">
        <p14:creationId xmlns:p14="http://schemas.microsoft.com/office/powerpoint/2010/main" val="9453040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A90F1-5147-BD79-79A3-A0940DB845E8}"/>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AF941D1C-CFDC-D2F5-087E-4F5E46E4AAE7}"/>
              </a:ext>
            </a:extLst>
          </p:cNvPr>
          <p:cNvSpPr txBox="1">
            <a:spLocks noGrp="1"/>
          </p:cNvSpPr>
          <p:nvPr>
            <p:ph type="title"/>
          </p:nvPr>
        </p:nvSpPr>
        <p:spPr>
          <a:prstGeom prst="rect">
            <a:avLst/>
          </a:prstGeom>
        </p:spPr>
        <p:txBody>
          <a:bodyPr>
            <a:normAutofit/>
          </a:bodyPr>
          <a:lstStyle/>
          <a:p>
            <a:r>
              <a:rPr lang="it-IT" b="1" dirty="0"/>
              <a:t>Primo server web</a:t>
            </a:r>
            <a:endParaRPr lang="it-IT" dirty="0"/>
          </a:p>
        </p:txBody>
      </p:sp>
      <p:sp>
        <p:nvSpPr>
          <p:cNvPr id="219" name="Cos’è?  Un linguaggio di programmazione compilato, general-purpose e tipizzato staticamente.…">
            <a:extLst>
              <a:ext uri="{FF2B5EF4-FFF2-40B4-BE49-F238E27FC236}">
                <a16:creationId xmlns:a16="http://schemas.microsoft.com/office/drawing/2014/main" id="{601BDE0E-8883-6B6C-9D3B-22F389BD0D2C}"/>
              </a:ext>
            </a:extLst>
          </p:cNvPr>
          <p:cNvSpPr txBox="1">
            <a:spLocks noGrp="1"/>
          </p:cNvSpPr>
          <p:nvPr>
            <p:ph type="body" idx="1"/>
          </p:nvPr>
        </p:nvSpPr>
        <p:spPr>
          <a:xfrm>
            <a:off x="1270000" y="2370237"/>
            <a:ext cx="21844000" cy="10261600"/>
          </a:xfrm>
          <a:prstGeom prst="rect">
            <a:avLst/>
          </a:prstGeom>
        </p:spPr>
        <p:txBody>
          <a:bodyPr>
            <a:noAutofit/>
          </a:bodyPr>
          <a:lstStyle/>
          <a:p>
            <a:r>
              <a:rPr lang="it-IT" dirty="0"/>
              <a:t>Costruiamo insieme un server web da zero usando Python puro:</a:t>
            </a:r>
          </a:p>
          <a:p>
            <a:pPr marL="0" indent="0">
              <a:buNone/>
            </a:pPr>
            <a:r>
              <a:rPr lang="it-IT" b="1" dirty="0"/>
              <a:t>Cosa vedremo:</a:t>
            </a:r>
            <a:endParaRPr lang="it-IT" dirty="0"/>
          </a:p>
          <a:p>
            <a:r>
              <a:rPr lang="it-IT" dirty="0"/>
              <a:t>Server HTTP basilare con </a:t>
            </a:r>
            <a:r>
              <a:rPr lang="it-IT" dirty="0" err="1"/>
              <a:t>http.server</a:t>
            </a:r>
            <a:endParaRPr lang="it-IT" dirty="0"/>
          </a:p>
          <a:p>
            <a:r>
              <a:rPr lang="it-IT" dirty="0"/>
              <a:t>Gestione di GET e POST</a:t>
            </a:r>
          </a:p>
          <a:p>
            <a:r>
              <a:rPr lang="it-IT" dirty="0"/>
              <a:t>Servire file statici</a:t>
            </a:r>
          </a:p>
          <a:p>
            <a:r>
              <a:rPr lang="it-IT" dirty="0"/>
              <a:t>Routing semplice</a:t>
            </a:r>
          </a:p>
          <a:p>
            <a:r>
              <a:rPr lang="it-IT" dirty="0"/>
              <a:t>Rispondere con JSON</a:t>
            </a:r>
          </a:p>
        </p:txBody>
      </p:sp>
      <p:sp>
        <p:nvSpPr>
          <p:cNvPr id="2" name="CasellaDiTesto 1">
            <a:extLst>
              <a:ext uri="{FF2B5EF4-FFF2-40B4-BE49-F238E27FC236}">
                <a16:creationId xmlns:a16="http://schemas.microsoft.com/office/drawing/2014/main" id="{00F0815C-7F29-886C-0C91-007AAABB2BB6}"/>
              </a:ext>
            </a:extLst>
          </p:cNvPr>
          <p:cNvSpPr txBox="1"/>
          <p:nvPr/>
        </p:nvSpPr>
        <p:spPr>
          <a:xfrm>
            <a:off x="17036716" y="1158031"/>
            <a:ext cx="102657" cy="11490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endParaRPr kumimoji="0" lang="it-IT" sz="4800" b="0" i="0" u="none" strike="noStrike" cap="none" spc="0" normalizeH="0" baseline="0" dirty="0">
              <a:ln>
                <a:noFill/>
              </a:ln>
              <a:solidFill>
                <a:srgbClr val="000000"/>
              </a:solidFill>
              <a:effectLst/>
              <a:uFillTx/>
              <a:latin typeface="Graphik"/>
              <a:ea typeface="Graphik"/>
              <a:cs typeface="Graphik"/>
              <a:sym typeface="Graphik"/>
            </a:endParaRPr>
          </a:p>
        </p:txBody>
      </p:sp>
    </p:spTree>
    <p:extLst>
      <p:ext uri="{BB962C8B-B14F-4D97-AF65-F5344CB8AC3E}">
        <p14:creationId xmlns:p14="http://schemas.microsoft.com/office/powerpoint/2010/main" val="3322190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89B31-6009-E258-D165-3696DF2CC3C1}"/>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B05248CD-7017-A932-AA88-EC08962AC389}"/>
              </a:ext>
            </a:extLst>
          </p:cNvPr>
          <p:cNvSpPr txBox="1">
            <a:spLocks noGrp="1"/>
          </p:cNvSpPr>
          <p:nvPr>
            <p:ph type="title"/>
          </p:nvPr>
        </p:nvSpPr>
        <p:spPr>
          <a:prstGeom prst="rect">
            <a:avLst/>
          </a:prstGeom>
        </p:spPr>
        <p:txBody>
          <a:bodyPr>
            <a:normAutofit/>
          </a:bodyPr>
          <a:lstStyle/>
          <a:p>
            <a:r>
              <a:rPr lang="it-IT" b="1" dirty="0"/>
              <a:t>Framework </a:t>
            </a:r>
            <a:r>
              <a:rPr lang="it-IT" b="1" dirty="0" err="1"/>
              <a:t>Flask</a:t>
            </a:r>
            <a:endParaRPr lang="it-IT" b="1" dirty="0"/>
          </a:p>
        </p:txBody>
      </p:sp>
      <p:sp>
        <p:nvSpPr>
          <p:cNvPr id="219" name="Cos’è?  Un linguaggio di programmazione compilato, general-purpose e tipizzato staticamente.…">
            <a:extLst>
              <a:ext uri="{FF2B5EF4-FFF2-40B4-BE49-F238E27FC236}">
                <a16:creationId xmlns:a16="http://schemas.microsoft.com/office/drawing/2014/main" id="{A6EAEBF3-D4AF-F0ED-A2C9-0A74926BED8A}"/>
              </a:ext>
            </a:extLst>
          </p:cNvPr>
          <p:cNvSpPr txBox="1">
            <a:spLocks noGrp="1"/>
          </p:cNvSpPr>
          <p:nvPr>
            <p:ph type="body" idx="1"/>
          </p:nvPr>
        </p:nvSpPr>
        <p:spPr>
          <a:xfrm>
            <a:off x="1270000" y="2370237"/>
            <a:ext cx="21844000" cy="10261600"/>
          </a:xfrm>
          <a:prstGeom prst="rect">
            <a:avLst/>
          </a:prstGeom>
        </p:spPr>
        <p:txBody>
          <a:bodyPr>
            <a:noAutofit/>
          </a:bodyPr>
          <a:lstStyle/>
          <a:p>
            <a:pPr marL="0" indent="0">
              <a:buNone/>
            </a:pPr>
            <a:r>
              <a:rPr lang="it-IT" dirty="0" err="1"/>
              <a:t>Flask</a:t>
            </a:r>
            <a:r>
              <a:rPr lang="it-IT" dirty="0"/>
              <a:t> segue il principio "micro-framework":</a:t>
            </a:r>
          </a:p>
          <a:p>
            <a:r>
              <a:rPr lang="it-IT" b="1" dirty="0"/>
              <a:t>Vantaggi:</a:t>
            </a:r>
            <a:endParaRPr lang="it-IT" dirty="0"/>
          </a:p>
          <a:p>
            <a:r>
              <a:rPr lang="it-IT" dirty="0"/>
              <a:t>Curva di apprendimento dolce</a:t>
            </a:r>
          </a:p>
          <a:p>
            <a:r>
              <a:rPr lang="it-IT" dirty="0"/>
              <a:t>Flessibilità massima</a:t>
            </a:r>
          </a:p>
          <a:p>
            <a:r>
              <a:rPr lang="it-IT" dirty="0"/>
              <a:t>Ecosistema ricco di estensioni</a:t>
            </a:r>
          </a:p>
          <a:p>
            <a:r>
              <a:rPr lang="it-IT" dirty="0"/>
              <a:t>Perfetto per API REST</a:t>
            </a:r>
          </a:p>
          <a:p>
            <a:pPr marL="0" indent="0">
              <a:buNone/>
            </a:pPr>
            <a:r>
              <a:rPr lang="it-IT" b="1" dirty="0"/>
              <a:t>Quando usarlo:</a:t>
            </a:r>
            <a:endParaRPr lang="it-IT" dirty="0"/>
          </a:p>
          <a:p>
            <a:r>
              <a:rPr lang="it-IT" dirty="0"/>
              <a:t>API semplici e medie</a:t>
            </a:r>
          </a:p>
          <a:p>
            <a:r>
              <a:rPr lang="it-IT" dirty="0"/>
              <a:t>Prototipazione rapida</a:t>
            </a:r>
          </a:p>
          <a:p>
            <a:r>
              <a:rPr lang="it-IT" dirty="0"/>
              <a:t>Quando vuoi controllo totale sull'architettura</a:t>
            </a:r>
          </a:p>
          <a:p>
            <a:endParaRPr lang="it-IT" dirty="0"/>
          </a:p>
        </p:txBody>
      </p:sp>
      <p:sp>
        <p:nvSpPr>
          <p:cNvPr id="2" name="CasellaDiTesto 1">
            <a:extLst>
              <a:ext uri="{FF2B5EF4-FFF2-40B4-BE49-F238E27FC236}">
                <a16:creationId xmlns:a16="http://schemas.microsoft.com/office/drawing/2014/main" id="{0204348C-BC52-2271-1D4C-80E8F02C99F4}"/>
              </a:ext>
            </a:extLst>
          </p:cNvPr>
          <p:cNvSpPr txBox="1"/>
          <p:nvPr/>
        </p:nvSpPr>
        <p:spPr>
          <a:xfrm>
            <a:off x="17036716" y="1158031"/>
            <a:ext cx="102657" cy="11490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endParaRPr kumimoji="0" lang="it-IT" sz="4800" b="0" i="0" u="none" strike="noStrike" cap="none" spc="0" normalizeH="0" baseline="0" dirty="0">
              <a:ln>
                <a:noFill/>
              </a:ln>
              <a:solidFill>
                <a:srgbClr val="000000"/>
              </a:solidFill>
              <a:effectLst/>
              <a:uFillTx/>
              <a:latin typeface="Graphik"/>
              <a:ea typeface="Graphik"/>
              <a:cs typeface="Graphik"/>
              <a:sym typeface="Graphik"/>
            </a:endParaRPr>
          </a:p>
        </p:txBody>
      </p:sp>
    </p:spTree>
    <p:extLst>
      <p:ext uri="{BB962C8B-B14F-4D97-AF65-F5344CB8AC3E}">
        <p14:creationId xmlns:p14="http://schemas.microsoft.com/office/powerpoint/2010/main" val="326933843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8BC51-BCFA-C475-F2D9-970338620519}"/>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189D2A6E-60DA-16CB-4CC4-4244F79236F2}"/>
              </a:ext>
            </a:extLst>
          </p:cNvPr>
          <p:cNvSpPr txBox="1">
            <a:spLocks noGrp="1"/>
          </p:cNvSpPr>
          <p:nvPr>
            <p:ph type="title"/>
          </p:nvPr>
        </p:nvSpPr>
        <p:spPr>
          <a:prstGeom prst="rect">
            <a:avLst/>
          </a:prstGeom>
        </p:spPr>
        <p:txBody>
          <a:bodyPr>
            <a:normAutofit/>
          </a:bodyPr>
          <a:lstStyle/>
          <a:p>
            <a:r>
              <a:rPr lang="it-IT" b="1" dirty="0"/>
              <a:t>Django - Il Framework Completo</a:t>
            </a:r>
          </a:p>
        </p:txBody>
      </p:sp>
      <p:sp>
        <p:nvSpPr>
          <p:cNvPr id="219" name="Cos’è?  Un linguaggio di programmazione compilato, general-purpose e tipizzato staticamente.…">
            <a:extLst>
              <a:ext uri="{FF2B5EF4-FFF2-40B4-BE49-F238E27FC236}">
                <a16:creationId xmlns:a16="http://schemas.microsoft.com/office/drawing/2014/main" id="{1FB264ED-F624-3D8B-7B7E-04B726CBE189}"/>
              </a:ext>
            </a:extLst>
          </p:cNvPr>
          <p:cNvSpPr txBox="1">
            <a:spLocks noGrp="1"/>
          </p:cNvSpPr>
          <p:nvPr>
            <p:ph type="body" idx="1"/>
          </p:nvPr>
        </p:nvSpPr>
        <p:spPr>
          <a:xfrm>
            <a:off x="1270000" y="2370237"/>
            <a:ext cx="21844000" cy="10261600"/>
          </a:xfrm>
          <a:prstGeom prst="rect">
            <a:avLst/>
          </a:prstGeom>
        </p:spPr>
        <p:txBody>
          <a:bodyPr>
            <a:noAutofit/>
          </a:bodyPr>
          <a:lstStyle/>
          <a:p>
            <a:r>
              <a:rPr lang="it-IT" dirty="0"/>
              <a:t>Django è il "coltellino svizzero" del web Python:</a:t>
            </a:r>
          </a:p>
          <a:p>
            <a:r>
              <a:rPr lang="it-IT" b="1" dirty="0"/>
              <a:t>Vantaggi:</a:t>
            </a:r>
            <a:endParaRPr lang="it-IT" dirty="0"/>
          </a:p>
          <a:p>
            <a:r>
              <a:rPr lang="it-IT" dirty="0"/>
              <a:t>Sistema di autenticazione robusto</a:t>
            </a:r>
          </a:p>
          <a:p>
            <a:r>
              <a:rPr lang="it-IT" dirty="0"/>
              <a:t>Admin panel automatico</a:t>
            </a:r>
          </a:p>
          <a:p>
            <a:r>
              <a:rPr lang="it-IT" dirty="0"/>
              <a:t>Sicurezza </a:t>
            </a:r>
            <a:r>
              <a:rPr lang="it-IT" dirty="0" err="1"/>
              <a:t>built</a:t>
            </a:r>
            <a:r>
              <a:rPr lang="it-IT" dirty="0"/>
              <a:t>-in (CSRF, XSS </a:t>
            </a:r>
            <a:r>
              <a:rPr lang="it-IT" dirty="0" err="1"/>
              <a:t>protection</a:t>
            </a:r>
            <a:r>
              <a:rPr lang="it-IT" dirty="0"/>
              <a:t>)</a:t>
            </a:r>
          </a:p>
          <a:p>
            <a:r>
              <a:rPr lang="it-IT" dirty="0"/>
              <a:t>Scalabilità </a:t>
            </a:r>
            <a:r>
              <a:rPr lang="it-IT" dirty="0" err="1"/>
              <a:t>enterprise</a:t>
            </a:r>
            <a:endParaRPr lang="it-IT" dirty="0"/>
          </a:p>
          <a:p>
            <a:pPr marL="0" indent="0">
              <a:buNone/>
            </a:pPr>
            <a:r>
              <a:rPr lang="it-IT" b="1" dirty="0"/>
              <a:t>Quando usarlo:</a:t>
            </a:r>
            <a:endParaRPr lang="it-IT" dirty="0"/>
          </a:p>
          <a:p>
            <a:r>
              <a:rPr lang="it-IT" dirty="0"/>
              <a:t>Applicazioni web complete</a:t>
            </a:r>
          </a:p>
          <a:p>
            <a:r>
              <a:rPr lang="it-IT" dirty="0"/>
              <a:t>E-commerce, CMS, social networks</a:t>
            </a:r>
          </a:p>
          <a:p>
            <a:r>
              <a:rPr lang="it-IT" dirty="0"/>
              <a:t>Quando hai bisogno di tutto subito</a:t>
            </a:r>
          </a:p>
          <a:p>
            <a:r>
              <a:rPr lang="it-IT" dirty="0"/>
              <a:t>Team di sviluppo grandi</a:t>
            </a:r>
          </a:p>
          <a:p>
            <a:endParaRPr lang="it-IT" dirty="0"/>
          </a:p>
        </p:txBody>
      </p:sp>
      <p:sp>
        <p:nvSpPr>
          <p:cNvPr id="2" name="CasellaDiTesto 1">
            <a:extLst>
              <a:ext uri="{FF2B5EF4-FFF2-40B4-BE49-F238E27FC236}">
                <a16:creationId xmlns:a16="http://schemas.microsoft.com/office/drawing/2014/main" id="{B54DFC83-0186-8401-29AF-7F6B162D1E35}"/>
              </a:ext>
            </a:extLst>
          </p:cNvPr>
          <p:cNvSpPr txBox="1"/>
          <p:nvPr/>
        </p:nvSpPr>
        <p:spPr>
          <a:xfrm>
            <a:off x="17036716" y="1158031"/>
            <a:ext cx="102657" cy="11490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endParaRPr kumimoji="0" lang="it-IT" sz="4800" b="0" i="0" u="none" strike="noStrike" cap="none" spc="0" normalizeH="0" baseline="0" dirty="0">
              <a:ln>
                <a:noFill/>
              </a:ln>
              <a:solidFill>
                <a:srgbClr val="000000"/>
              </a:solidFill>
              <a:effectLst/>
              <a:uFillTx/>
              <a:latin typeface="Graphik"/>
              <a:ea typeface="Graphik"/>
              <a:cs typeface="Graphik"/>
              <a:sym typeface="Graphik"/>
            </a:endParaRPr>
          </a:p>
        </p:txBody>
      </p:sp>
    </p:spTree>
    <p:extLst>
      <p:ext uri="{BB962C8B-B14F-4D97-AF65-F5344CB8AC3E}">
        <p14:creationId xmlns:p14="http://schemas.microsoft.com/office/powerpoint/2010/main" val="395689291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CE52-30E7-8266-2EE1-89A98D554350}"/>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71B9B11E-364E-EE4F-3B12-91CD7EF39153}"/>
              </a:ext>
            </a:extLst>
          </p:cNvPr>
          <p:cNvSpPr txBox="1">
            <a:spLocks noGrp="1"/>
          </p:cNvSpPr>
          <p:nvPr>
            <p:ph type="title"/>
          </p:nvPr>
        </p:nvSpPr>
        <p:spPr>
          <a:prstGeom prst="rect">
            <a:avLst/>
          </a:prstGeom>
        </p:spPr>
        <p:txBody>
          <a:bodyPr>
            <a:normAutofit/>
          </a:bodyPr>
          <a:lstStyle/>
          <a:p>
            <a:r>
              <a:rPr lang="it-IT" b="1" dirty="0"/>
              <a:t>Fast API</a:t>
            </a:r>
          </a:p>
        </p:txBody>
      </p:sp>
      <p:sp>
        <p:nvSpPr>
          <p:cNvPr id="219" name="Cos’è?  Un linguaggio di programmazione compilato, general-purpose e tipizzato staticamente.…">
            <a:extLst>
              <a:ext uri="{FF2B5EF4-FFF2-40B4-BE49-F238E27FC236}">
                <a16:creationId xmlns:a16="http://schemas.microsoft.com/office/drawing/2014/main" id="{6CE183C1-D032-8831-3C64-932ED18F5D9D}"/>
              </a:ext>
            </a:extLst>
          </p:cNvPr>
          <p:cNvSpPr txBox="1">
            <a:spLocks noGrp="1"/>
          </p:cNvSpPr>
          <p:nvPr>
            <p:ph type="body" idx="1"/>
          </p:nvPr>
        </p:nvSpPr>
        <p:spPr>
          <a:xfrm>
            <a:off x="1270000" y="2370237"/>
            <a:ext cx="21844000" cy="10261600"/>
          </a:xfrm>
          <a:prstGeom prst="rect">
            <a:avLst/>
          </a:prstGeom>
        </p:spPr>
        <p:txBody>
          <a:bodyPr>
            <a:noAutofit/>
          </a:bodyPr>
          <a:lstStyle/>
          <a:p>
            <a:pPr marL="0" indent="0">
              <a:buNone/>
            </a:pPr>
            <a:r>
              <a:rPr lang="it-IT" dirty="0" err="1"/>
              <a:t>FastAPI</a:t>
            </a:r>
            <a:r>
              <a:rPr lang="it-IT" dirty="0"/>
              <a:t> combina performance e developer </a:t>
            </a:r>
            <a:r>
              <a:rPr lang="it-IT" dirty="0" err="1"/>
              <a:t>experience</a:t>
            </a:r>
            <a:r>
              <a:rPr lang="it-IT" dirty="0"/>
              <a:t>:</a:t>
            </a:r>
          </a:p>
          <a:p>
            <a:pPr marL="0" indent="0">
              <a:buNone/>
            </a:pPr>
            <a:r>
              <a:rPr lang="it-IT" b="1" dirty="0"/>
              <a:t>Vantaggi:</a:t>
            </a:r>
            <a:endParaRPr lang="it-IT" dirty="0"/>
          </a:p>
          <a:p>
            <a:r>
              <a:rPr lang="it-IT" b="1" dirty="0"/>
              <a:t>Performance:</a:t>
            </a:r>
            <a:r>
              <a:rPr lang="it-IT" dirty="0"/>
              <a:t> tra le più alte in Python</a:t>
            </a:r>
          </a:p>
          <a:p>
            <a:r>
              <a:rPr lang="it-IT" b="1" dirty="0"/>
              <a:t>Documentazione:</a:t>
            </a:r>
            <a:r>
              <a:rPr lang="it-IT" dirty="0"/>
              <a:t> </a:t>
            </a:r>
            <a:r>
              <a:rPr lang="it-IT" dirty="0" err="1"/>
              <a:t>Swagger</a:t>
            </a:r>
            <a:r>
              <a:rPr lang="it-IT" dirty="0"/>
              <a:t> UI generata automaticamente</a:t>
            </a:r>
          </a:p>
          <a:p>
            <a:r>
              <a:rPr lang="it-IT" b="1" dirty="0"/>
              <a:t>Asincrono:</a:t>
            </a:r>
            <a:r>
              <a:rPr lang="it-IT" dirty="0"/>
              <a:t> supporto nativo </a:t>
            </a:r>
            <a:r>
              <a:rPr lang="it-IT" dirty="0" err="1"/>
              <a:t>async</a:t>
            </a:r>
            <a:r>
              <a:rPr lang="it-IT" dirty="0"/>
              <a:t>/</a:t>
            </a:r>
            <a:r>
              <a:rPr lang="it-IT" dirty="0" err="1"/>
              <a:t>await</a:t>
            </a:r>
            <a:endParaRPr lang="it-IT" dirty="0"/>
          </a:p>
          <a:p>
            <a:r>
              <a:rPr lang="it-IT" b="1" dirty="0"/>
              <a:t>Standards:</a:t>
            </a:r>
            <a:r>
              <a:rPr lang="it-IT" dirty="0"/>
              <a:t> basato su </a:t>
            </a:r>
            <a:r>
              <a:rPr lang="it-IT" dirty="0" err="1"/>
              <a:t>OpenAPI</a:t>
            </a:r>
            <a:r>
              <a:rPr lang="it-IT" dirty="0"/>
              <a:t> e JSON Schema</a:t>
            </a:r>
          </a:p>
          <a:p>
            <a:pPr marL="0" indent="0">
              <a:buNone/>
            </a:pPr>
            <a:r>
              <a:rPr lang="it-IT" b="1" dirty="0"/>
              <a:t>Quando usarlo:</a:t>
            </a:r>
            <a:endParaRPr lang="it-IT" dirty="0"/>
          </a:p>
          <a:p>
            <a:r>
              <a:rPr lang="it-IT" dirty="0"/>
              <a:t>API moderne ad alte performance</a:t>
            </a:r>
          </a:p>
          <a:p>
            <a:r>
              <a:rPr lang="it-IT" dirty="0"/>
              <a:t>Microservizi</a:t>
            </a:r>
          </a:p>
          <a:p>
            <a:r>
              <a:rPr lang="it-IT" dirty="0"/>
              <a:t>Applicazioni real-time</a:t>
            </a:r>
          </a:p>
          <a:p>
            <a:r>
              <a:rPr lang="it-IT" dirty="0"/>
              <a:t>Quando la velocità è critica</a:t>
            </a:r>
          </a:p>
          <a:p>
            <a:endParaRPr lang="it-IT" dirty="0"/>
          </a:p>
        </p:txBody>
      </p:sp>
      <p:sp>
        <p:nvSpPr>
          <p:cNvPr id="2" name="CasellaDiTesto 1">
            <a:extLst>
              <a:ext uri="{FF2B5EF4-FFF2-40B4-BE49-F238E27FC236}">
                <a16:creationId xmlns:a16="http://schemas.microsoft.com/office/drawing/2014/main" id="{FDD8EC81-25E5-48B6-342B-E54031B1EB81}"/>
              </a:ext>
            </a:extLst>
          </p:cNvPr>
          <p:cNvSpPr txBox="1"/>
          <p:nvPr/>
        </p:nvSpPr>
        <p:spPr>
          <a:xfrm>
            <a:off x="17036716" y="1158031"/>
            <a:ext cx="102657" cy="11490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endParaRPr kumimoji="0" lang="it-IT" sz="4800" b="0" i="0" u="none" strike="noStrike" cap="none" spc="0" normalizeH="0" baseline="0" dirty="0">
              <a:ln>
                <a:noFill/>
              </a:ln>
              <a:solidFill>
                <a:srgbClr val="000000"/>
              </a:solidFill>
              <a:effectLst/>
              <a:uFillTx/>
              <a:latin typeface="Graphik"/>
              <a:ea typeface="Graphik"/>
              <a:cs typeface="Graphik"/>
              <a:sym typeface="Graphik"/>
            </a:endParaRPr>
          </a:p>
        </p:txBody>
      </p:sp>
    </p:spTree>
    <p:extLst>
      <p:ext uri="{BB962C8B-B14F-4D97-AF65-F5344CB8AC3E}">
        <p14:creationId xmlns:p14="http://schemas.microsoft.com/office/powerpoint/2010/main" val="319518734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6588C-528A-BE96-6F1E-D20DD8FD2DFD}"/>
            </a:ext>
          </a:extLst>
        </p:cNvPr>
        <p:cNvGrpSpPr/>
        <p:nvPr/>
      </p:nvGrpSpPr>
      <p:grpSpPr>
        <a:xfrm>
          <a:off x="0" y="0"/>
          <a:ext cx="0" cy="0"/>
          <a:chOff x="0" y="0"/>
          <a:chExt cx="0" cy="0"/>
        </a:xfrm>
      </p:grpSpPr>
      <p:sp>
        <p:nvSpPr>
          <p:cNvPr id="218" name="Linguaggio C">
            <a:extLst>
              <a:ext uri="{FF2B5EF4-FFF2-40B4-BE49-F238E27FC236}">
                <a16:creationId xmlns:a16="http://schemas.microsoft.com/office/drawing/2014/main" id="{13664AD4-4191-CA22-D5AE-B0C2F79CD774}"/>
              </a:ext>
            </a:extLst>
          </p:cNvPr>
          <p:cNvSpPr txBox="1">
            <a:spLocks noGrp="1"/>
          </p:cNvSpPr>
          <p:nvPr>
            <p:ph type="title"/>
          </p:nvPr>
        </p:nvSpPr>
        <p:spPr>
          <a:prstGeom prst="rect">
            <a:avLst/>
          </a:prstGeom>
        </p:spPr>
        <p:txBody>
          <a:bodyPr>
            <a:normAutofit/>
          </a:bodyPr>
          <a:lstStyle/>
          <a:p>
            <a:r>
              <a:rPr lang="it-IT" b="1" dirty="0"/>
              <a:t>Quando Usare Cosa?</a:t>
            </a:r>
          </a:p>
        </p:txBody>
      </p:sp>
      <p:sp>
        <p:nvSpPr>
          <p:cNvPr id="2" name="CasellaDiTesto 1">
            <a:extLst>
              <a:ext uri="{FF2B5EF4-FFF2-40B4-BE49-F238E27FC236}">
                <a16:creationId xmlns:a16="http://schemas.microsoft.com/office/drawing/2014/main" id="{1F11A9CA-DB5A-52CA-4DD6-83C36953AD99}"/>
              </a:ext>
            </a:extLst>
          </p:cNvPr>
          <p:cNvSpPr txBox="1"/>
          <p:nvPr/>
        </p:nvSpPr>
        <p:spPr>
          <a:xfrm>
            <a:off x="17036716" y="1158031"/>
            <a:ext cx="102657" cy="11490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400" rtl="0" fontAlgn="auto" latinLnBrk="0" hangingPunct="0">
              <a:lnSpc>
                <a:spcPct val="100000"/>
              </a:lnSpc>
              <a:spcBef>
                <a:spcPts val="2400"/>
              </a:spcBef>
              <a:spcAft>
                <a:spcPts val="0"/>
              </a:spcAft>
              <a:buClrTx/>
              <a:buSzTx/>
              <a:buFontTx/>
              <a:buNone/>
              <a:tabLst/>
            </a:pPr>
            <a:endParaRPr kumimoji="0" lang="it-IT" sz="4800" b="0" i="0" u="none" strike="noStrike" cap="none" spc="0" normalizeH="0" baseline="0" dirty="0">
              <a:ln>
                <a:noFill/>
              </a:ln>
              <a:solidFill>
                <a:srgbClr val="000000"/>
              </a:solidFill>
              <a:effectLst/>
              <a:uFillTx/>
              <a:latin typeface="Graphik"/>
              <a:ea typeface="Graphik"/>
              <a:cs typeface="Graphik"/>
              <a:sym typeface="Graphik"/>
            </a:endParaRPr>
          </a:p>
        </p:txBody>
      </p:sp>
      <p:sp>
        <p:nvSpPr>
          <p:cNvPr id="3" name="Cos’è?  Un linguaggio di programmazione compilato, general-purpose e tipizzato staticamente.…">
            <a:extLst>
              <a:ext uri="{FF2B5EF4-FFF2-40B4-BE49-F238E27FC236}">
                <a16:creationId xmlns:a16="http://schemas.microsoft.com/office/drawing/2014/main" id="{9DAA9254-C9CD-7175-FD50-51904BDAD018}"/>
              </a:ext>
            </a:extLst>
          </p:cNvPr>
          <p:cNvSpPr txBox="1">
            <a:spLocks/>
          </p:cNvSpPr>
          <p:nvPr/>
        </p:nvSpPr>
        <p:spPr>
          <a:xfrm>
            <a:off x="1270000" y="2641600"/>
            <a:ext cx="9652000" cy="843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558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1pPr>
            <a:lvl2pPr marL="1117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9pPr>
          </a:lstStyle>
          <a:p>
            <a:pPr marL="0" indent="0">
              <a:buNone/>
            </a:pPr>
            <a:r>
              <a:rPr lang="it-IT" b="1" dirty="0" err="1"/>
              <a:t>Flask</a:t>
            </a:r>
            <a:r>
              <a:rPr lang="it-IT" b="1" dirty="0"/>
              <a:t> quando:</a:t>
            </a:r>
          </a:p>
          <a:p>
            <a:r>
              <a:rPr lang="it-IT" dirty="0"/>
              <a:t>API semplici e veloci da sviluppare</a:t>
            </a:r>
          </a:p>
          <a:p>
            <a:r>
              <a:rPr lang="it-IT" dirty="0"/>
              <a:t>Hai bisogno di massima flessibilità</a:t>
            </a:r>
          </a:p>
          <a:p>
            <a:r>
              <a:rPr lang="it-IT" dirty="0"/>
              <a:t>Team piccolo, prototipazione</a:t>
            </a:r>
          </a:p>
          <a:p>
            <a:r>
              <a:rPr lang="it-IT" dirty="0"/>
              <a:t>Vuoi imparare i concetti web </a:t>
            </a:r>
            <a:r>
              <a:rPr lang="it-IT" dirty="0" err="1"/>
              <a:t>step-by-step</a:t>
            </a:r>
            <a:endParaRPr lang="it-IT" dirty="0"/>
          </a:p>
        </p:txBody>
      </p:sp>
      <p:sp>
        <p:nvSpPr>
          <p:cNvPr id="4" name="Cos’è?  Un linguaggio di programmazione compilato, general-purpose e tipizzato staticamente.…">
            <a:extLst>
              <a:ext uri="{FF2B5EF4-FFF2-40B4-BE49-F238E27FC236}">
                <a16:creationId xmlns:a16="http://schemas.microsoft.com/office/drawing/2014/main" id="{40C087B6-19FA-7FD8-87A9-9EA811111B7E}"/>
              </a:ext>
            </a:extLst>
          </p:cNvPr>
          <p:cNvSpPr txBox="1">
            <a:spLocks/>
          </p:cNvSpPr>
          <p:nvPr/>
        </p:nvSpPr>
        <p:spPr>
          <a:xfrm>
            <a:off x="13462000" y="2715468"/>
            <a:ext cx="9652000" cy="843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558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1pPr>
            <a:lvl2pPr marL="1117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Graphik"/>
                <a:ea typeface="Graphik"/>
                <a:cs typeface="Graphik"/>
                <a:sym typeface="Graphik"/>
              </a:defRPr>
            </a:lvl9pPr>
          </a:lstStyle>
          <a:p>
            <a:pPr marL="0" indent="0">
              <a:buNone/>
            </a:pPr>
            <a:r>
              <a:rPr lang="it-IT" b="1" dirty="0"/>
              <a:t>Django quando:</a:t>
            </a:r>
          </a:p>
          <a:p>
            <a:r>
              <a:rPr lang="it-IT" dirty="0"/>
              <a:t>Applicazione web completa (</a:t>
            </a:r>
            <a:r>
              <a:rPr lang="it-IT" dirty="0" err="1"/>
              <a:t>frontend</a:t>
            </a:r>
            <a:r>
              <a:rPr lang="it-IT" dirty="0"/>
              <a:t> + </a:t>
            </a:r>
            <a:r>
              <a:rPr lang="it-IT" dirty="0" err="1"/>
              <a:t>backend</a:t>
            </a:r>
            <a:r>
              <a:rPr lang="it-IT" dirty="0"/>
              <a:t>)</a:t>
            </a:r>
          </a:p>
          <a:p>
            <a:r>
              <a:rPr lang="it-IT" dirty="0"/>
              <a:t>Hai bisogno di funzionalità </a:t>
            </a:r>
            <a:r>
              <a:rPr lang="it-IT" dirty="0" err="1"/>
              <a:t>enterprise</a:t>
            </a:r>
            <a:r>
              <a:rPr lang="it-IT" dirty="0"/>
              <a:t> (admin, </a:t>
            </a:r>
            <a:r>
              <a:rPr lang="it-IT" dirty="0" err="1"/>
              <a:t>auth</a:t>
            </a:r>
            <a:r>
              <a:rPr lang="it-IT" dirty="0"/>
              <a:t>, ORM)</a:t>
            </a:r>
          </a:p>
          <a:p>
            <a:r>
              <a:rPr lang="it-IT" dirty="0"/>
              <a:t>Team grande, progetti long-</a:t>
            </a:r>
            <a:r>
              <a:rPr lang="it-IT" dirty="0" err="1"/>
              <a:t>term</a:t>
            </a:r>
            <a:endParaRPr lang="it-IT" dirty="0"/>
          </a:p>
        </p:txBody>
      </p:sp>
      <p:sp>
        <p:nvSpPr>
          <p:cNvPr id="5" name="CasellaDiTesto 4">
            <a:extLst>
              <a:ext uri="{FF2B5EF4-FFF2-40B4-BE49-F238E27FC236}">
                <a16:creationId xmlns:a16="http://schemas.microsoft.com/office/drawing/2014/main" id="{035C303F-9560-617C-4B11-C5B1E0255186}"/>
              </a:ext>
            </a:extLst>
          </p:cNvPr>
          <p:cNvSpPr txBox="1"/>
          <p:nvPr/>
        </p:nvSpPr>
        <p:spPr>
          <a:xfrm>
            <a:off x="7543092" y="8930223"/>
            <a:ext cx="9297816" cy="4288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it-IT" b="1" dirty="0" err="1"/>
              <a:t>FastAPI</a:t>
            </a:r>
            <a:r>
              <a:rPr lang="it-IT" b="1" dirty="0"/>
              <a:t> quando:</a:t>
            </a:r>
          </a:p>
          <a:p>
            <a:r>
              <a:rPr lang="it-IT" dirty="0"/>
              <a:t>Performance sono critiche</a:t>
            </a:r>
          </a:p>
          <a:p>
            <a:r>
              <a:rPr lang="it-IT" dirty="0"/>
              <a:t>Stai costruendo API moderne</a:t>
            </a:r>
          </a:p>
          <a:p>
            <a:r>
              <a:rPr lang="it-IT" dirty="0"/>
              <a:t>Vuoi documentazione automatica</a:t>
            </a:r>
          </a:p>
        </p:txBody>
      </p:sp>
      <p:pic>
        <p:nvPicPr>
          <p:cNvPr id="14338" name="Picture 2" descr="Flask o Django? Scegli il Tuo Framework Python - Kinsta®">
            <a:extLst>
              <a:ext uri="{FF2B5EF4-FFF2-40B4-BE49-F238E27FC236}">
                <a16:creationId xmlns:a16="http://schemas.microsoft.com/office/drawing/2014/main" id="{3CD4F328-8A75-5C26-3EAB-729D0B331B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092" y="8930223"/>
            <a:ext cx="6096000" cy="203200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fastapi·PyPI">
            <a:extLst>
              <a:ext uri="{FF2B5EF4-FFF2-40B4-BE49-F238E27FC236}">
                <a16:creationId xmlns:a16="http://schemas.microsoft.com/office/drawing/2014/main" id="{46A3DD01-DC30-D5DA-3618-B89D48CE10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092" y="10985355"/>
            <a:ext cx="6186850" cy="2233221"/>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Python Django Training Institute &amp; Certification Exam Center in Pune. get  course details, certification cost, fees">
            <a:extLst>
              <a:ext uri="{FF2B5EF4-FFF2-40B4-BE49-F238E27FC236}">
                <a16:creationId xmlns:a16="http://schemas.microsoft.com/office/drawing/2014/main" id="{F8B65732-A3CD-D116-AA2A-945A72FBFB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36716" y="8930223"/>
            <a:ext cx="5605398" cy="3139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8146663"/>
      </p:ext>
    </p:extLst>
  </p:cSld>
  <p:clrMapOvr>
    <a:masterClrMapping/>
  </p:clrMapOvr>
  <p:transition spd="med"/>
</p:sld>
</file>

<file path=ppt/theme/theme1.xml><?xml version="1.0" encoding="utf-8"?>
<a:theme xmlns:a="http://schemas.openxmlformats.org/drawingml/2006/main" name="31_ColorGradientLight">
  <a:themeElements>
    <a:clrScheme name="31_ColorGradientLight">
      <a:dk1>
        <a:srgbClr val="000000"/>
      </a:dk1>
      <a:lt1>
        <a:srgbClr val="FFFFFF"/>
      </a:lt1>
      <a:dk2>
        <a:srgbClr val="5E5E5E"/>
      </a:dk2>
      <a:lt2>
        <a:srgbClr val="D5D5D5"/>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31_ColorGradientLight">
      <a:majorFont>
        <a:latin typeface="Graphik Semibold"/>
        <a:ea typeface="Graphik Semibold"/>
        <a:cs typeface="Graphik Semibold"/>
      </a:majorFont>
      <a:minorFont>
        <a:latin typeface="Graphik Semibold"/>
        <a:ea typeface="Graphik Semibold"/>
        <a:cs typeface="Graphik Semibold"/>
      </a:minorFont>
    </a:fontScheme>
    <a:fmtScheme name="31_ColorGradien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Graphik-Medium"/>
            <a:ea typeface="Graphik-Medium"/>
            <a:cs typeface="Graphik-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1_ColorGradientLight">
  <a:themeElements>
    <a:clrScheme name="31_ColorGradientLight">
      <a:dk1>
        <a:srgbClr val="000000"/>
      </a:dk1>
      <a:lt1>
        <a:srgbClr val="FFFFFF"/>
      </a:lt1>
      <a:dk2>
        <a:srgbClr val="5E5E5E"/>
      </a:dk2>
      <a:lt2>
        <a:srgbClr val="D5D5D5"/>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31_ColorGradientLight">
      <a:majorFont>
        <a:latin typeface="Graphik Semibold"/>
        <a:ea typeface="Graphik Semibold"/>
        <a:cs typeface="Graphik Semibold"/>
      </a:majorFont>
      <a:minorFont>
        <a:latin typeface="Graphik Semibold"/>
        <a:ea typeface="Graphik Semibold"/>
        <a:cs typeface="Graphik Semibold"/>
      </a:minorFont>
    </a:fontScheme>
    <a:fmtScheme name="31_ColorGradien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Graphik-Medium"/>
            <a:ea typeface="Graphik-Medium"/>
            <a:cs typeface="Graphik-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960</TotalTime>
  <Words>7236</Words>
  <Application>Microsoft Macintosh PowerPoint</Application>
  <PresentationFormat>Personalizzato</PresentationFormat>
  <Paragraphs>313</Paragraphs>
  <Slides>24</Slides>
  <Notes>22</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24</vt:i4>
      </vt:variant>
    </vt:vector>
  </HeadingPairs>
  <TitlesOfParts>
    <vt:vector size="31" baseType="lpstr">
      <vt:lpstr>Arial</vt:lpstr>
      <vt:lpstr>Graphik</vt:lpstr>
      <vt:lpstr>Graphik Semibold</vt:lpstr>
      <vt:lpstr>Graphik-Medium</vt:lpstr>
      <vt:lpstr>Helvetica Neue</vt:lpstr>
      <vt:lpstr>Wingdings</vt:lpstr>
      <vt:lpstr>31_ColorGradientLight</vt:lpstr>
      <vt:lpstr>Eco-design Digitale di Base per i servizi ICT</vt:lpstr>
      <vt:lpstr>Obiettivi della lezione</vt:lpstr>
      <vt:lpstr>Il Web e Internet</vt:lpstr>
      <vt:lpstr>Modello Client - Server</vt:lpstr>
      <vt:lpstr>Modello Client - Server</vt:lpstr>
      <vt:lpstr>Anatomia di un URL</vt:lpstr>
      <vt:lpstr>Protocollo HTTP</vt:lpstr>
      <vt:lpstr>Metodi HTTP</vt:lpstr>
      <vt:lpstr>Richiesta HTTP</vt:lpstr>
      <vt:lpstr>Risposta HTTP</vt:lpstr>
      <vt:lpstr>Ciclo di una richiesta HTTP</vt:lpstr>
      <vt:lpstr>Status Code HTTP</vt:lpstr>
      <vt:lpstr>DNS - Il Sistema dei Nomi</vt:lpstr>
      <vt:lpstr>Porte e indirizzi IP</vt:lpstr>
      <vt:lpstr>FrontEnd vs BackEnd</vt:lpstr>
      <vt:lpstr>FrontEnd vs BackEnd</vt:lpstr>
      <vt:lpstr>L'Ecosistema Python Web</vt:lpstr>
      <vt:lpstr>L'Ecosistema Python Web</vt:lpstr>
      <vt:lpstr>WSGI vs ASGI</vt:lpstr>
      <vt:lpstr>Primo server web</vt:lpstr>
      <vt:lpstr>Framework Flask</vt:lpstr>
      <vt:lpstr>Django - Il Framework Completo</vt:lpstr>
      <vt:lpstr>Fast API</vt:lpstr>
      <vt:lpstr>Quando Usare Cosa?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Massimo Giaccone</cp:lastModifiedBy>
  <cp:revision>15</cp:revision>
  <cp:lastPrinted>2025-06-22T21:38:24Z</cp:lastPrinted>
  <dcterms:modified xsi:type="dcterms:W3CDTF">2025-06-22T22:29:31Z</dcterms:modified>
</cp:coreProperties>
</file>